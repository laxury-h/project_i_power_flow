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d0d52c43274d40" /><Relationship Type="http://schemas.openxmlformats.org/officeDocument/2006/relationships/extended-properties" Target="/docProps/app.xml" Id="R66d91ef085884f45" /><Relationship Type="http://schemas.openxmlformats.org/officeDocument/2006/relationships/officeDocument" Target="/ppt/presentation.xml" Id="Rd6894b4b444740dd" /></Relationships>
</file>

<file path=ppt/presentation.xml><?xml version="1.0" encoding="utf-8"?>
<p:presentation xmlns:p="http://schemas.openxmlformats.org/presentationml/2006/main">
  <p:sldMasterIdLst>
    <p:sldMasterId xmlns:r="http://schemas.openxmlformats.org/officeDocument/2006/relationships" id="2147483648" r:id="R8497c2fafe264e58"/>
  </p:sldMasterIdLst>
  <p:notesMasterIdLst>
    <p:notesMasterId xmlns:r="http://schemas.openxmlformats.org/officeDocument/2006/relationships" r:id="Rd072ce6fcce54d19"/>
  </p:notesMasterIdLst>
  <p:sldIdLst>
    <p:sldId xmlns:r="http://schemas.openxmlformats.org/officeDocument/2006/relationships" id="256" r:id="Ra2421d18761c43e8"/>
    <p:sldId xmlns:r="http://schemas.openxmlformats.org/officeDocument/2006/relationships" id="257" r:id="R9ef642d1b75c45de"/>
    <p:sldId xmlns:r="http://schemas.openxmlformats.org/officeDocument/2006/relationships" id="258" r:id="R844abd20b12e44b9"/>
    <p:sldId xmlns:r="http://schemas.openxmlformats.org/officeDocument/2006/relationships" id="259" r:id="Rbc4ef1688f6a46b6"/>
    <p:sldId xmlns:r="http://schemas.openxmlformats.org/officeDocument/2006/relationships" id="260" r:id="R12e655f835b8411f"/>
    <p:sldId xmlns:r="http://schemas.openxmlformats.org/officeDocument/2006/relationships" id="261" r:id="Rb7509b41e84245fe"/>
    <p:sldId xmlns:r="http://schemas.openxmlformats.org/officeDocument/2006/relationships" id="262" r:id="R9f844a8d0b1140b0"/>
    <p:sldId xmlns:r="http://schemas.openxmlformats.org/officeDocument/2006/relationships" id="263" r:id="R1ede526b933f461d"/>
    <p:sldId xmlns:r="http://schemas.openxmlformats.org/officeDocument/2006/relationships" id="264" r:id="R14c60545319f4f95"/>
    <p:sldId xmlns:r="http://schemas.openxmlformats.org/officeDocument/2006/relationships" id="265" r:id="R471fe8a3e6e4414f"/>
    <p:sldId xmlns:r="http://schemas.openxmlformats.org/officeDocument/2006/relationships" id="266" r:id="R4d5ae1e17d7148f2"/>
    <p:sldId xmlns:r="http://schemas.openxmlformats.org/officeDocument/2006/relationships" id="267" r:id="R94fd8404e59d4262"/>
    <p:sldId xmlns:r="http://schemas.openxmlformats.org/officeDocument/2006/relationships" id="268" r:id="R692953d1df484261"/>
    <p:sldId xmlns:r="http://schemas.openxmlformats.org/officeDocument/2006/relationships" id="269" r:id="R24eb69c035744bd4"/>
    <p:sldId xmlns:r="http://schemas.openxmlformats.org/officeDocument/2006/relationships" id="270" r:id="Re8f85445e81149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7549109a744168" /><Relationship Type="http://schemas.openxmlformats.org/officeDocument/2006/relationships/slideMaster" Target="/ppt/slideMasters/slideMaster1.xml" Id="R8497c2fafe264e58" /><Relationship Type="http://schemas.openxmlformats.org/officeDocument/2006/relationships/notesMaster" Target="/ppt/notesMasters/notesMaster1.xml" Id="Rd072ce6fcce54d19" /><Relationship Type="http://schemas.openxmlformats.org/officeDocument/2006/relationships/presProps" Target="/ppt/presProps.xml" Id="Re0fd11d68e584a41" /><Relationship Type="http://schemas.openxmlformats.org/officeDocument/2006/relationships/tableStyles" Target="/ppt/tableStyles.xml" Id="Ra48e0fb097664a9a" /><Relationship Type="http://schemas.openxmlformats.org/officeDocument/2006/relationships/slide" Target="/ppt/slides/slide1.xml" Id="Ra2421d18761c43e8" /><Relationship Type="http://schemas.openxmlformats.org/officeDocument/2006/relationships/slide" Target="/ppt/slides/slide2.xml" Id="R9ef642d1b75c45de" /><Relationship Type="http://schemas.openxmlformats.org/officeDocument/2006/relationships/slide" Target="/ppt/slides/slide3.xml" Id="R844abd20b12e44b9" /><Relationship Type="http://schemas.openxmlformats.org/officeDocument/2006/relationships/slide" Target="/ppt/slides/slide4.xml" Id="Rbc4ef1688f6a46b6" /><Relationship Type="http://schemas.openxmlformats.org/officeDocument/2006/relationships/slide" Target="/ppt/slides/slide5.xml" Id="R12e655f835b8411f" /><Relationship Type="http://schemas.openxmlformats.org/officeDocument/2006/relationships/slide" Target="/ppt/slides/slide6.xml" Id="Rb7509b41e84245fe" /><Relationship Type="http://schemas.openxmlformats.org/officeDocument/2006/relationships/slide" Target="/ppt/slides/slide7.xml" Id="R9f844a8d0b1140b0" /><Relationship Type="http://schemas.openxmlformats.org/officeDocument/2006/relationships/slide" Target="/ppt/slides/slide8.xml" Id="R1ede526b933f461d" /><Relationship Type="http://schemas.openxmlformats.org/officeDocument/2006/relationships/slide" Target="/ppt/slides/slide9.xml" Id="R14c60545319f4f95" /><Relationship Type="http://schemas.openxmlformats.org/officeDocument/2006/relationships/slide" Target="/ppt/slides/slide10.xml" Id="R471fe8a3e6e4414f" /><Relationship Type="http://schemas.openxmlformats.org/officeDocument/2006/relationships/slide" Target="/ppt/slides/slide11.xml" Id="R4d5ae1e17d7148f2" /><Relationship Type="http://schemas.openxmlformats.org/officeDocument/2006/relationships/slide" Target="/ppt/slides/slide12.xml" Id="R94fd8404e59d4262" /><Relationship Type="http://schemas.openxmlformats.org/officeDocument/2006/relationships/slide" Target="/ppt/slides/slide13.xml" Id="R692953d1df484261" /><Relationship Type="http://schemas.openxmlformats.org/officeDocument/2006/relationships/slide" Target="/ppt/slides/slide14.xml" Id="R24eb69c035744bd4" /><Relationship Type="http://schemas.openxmlformats.org/officeDocument/2006/relationships/slide" Target="/ppt/slides/slide15.xml" Id="Re8f85445e81149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b5c00a93b744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bd94ce4fca4ea1" /><Relationship Type="http://schemas.openxmlformats.org/officeDocument/2006/relationships/notesMaster" Target="/ppt/notesMasters/notesMaster1.xml" Id="R5986a6b4ad5940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abc759d9ed4c19" /><Relationship Type="http://schemas.openxmlformats.org/officeDocument/2006/relationships/notesMaster" Target="/ppt/notesMasters/notesMaster1.xml" Id="Re60a0042309c43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8c62a88c1a42d2" /><Relationship Type="http://schemas.openxmlformats.org/officeDocument/2006/relationships/notesMaster" Target="/ppt/notesMasters/notesMaster1.xml" Id="Rf6c35430bd124c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d31a9145fa42ab" /><Relationship Type="http://schemas.openxmlformats.org/officeDocument/2006/relationships/notesMaster" Target="/ppt/notesMasters/notesMaster1.xml" Id="R1f60239ad10f40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0442bdb92d4f00" /><Relationship Type="http://schemas.openxmlformats.org/officeDocument/2006/relationships/notesMaster" Target="/ppt/notesMasters/notesMaster1.xml" Id="R907c65b39a7948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5d23cc50374980" /><Relationship Type="http://schemas.openxmlformats.org/officeDocument/2006/relationships/notesMaster" Target="/ppt/notesMasters/notesMaster1.xml" Id="R909aaf8bd33944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7f1728e6d64066" /><Relationship Type="http://schemas.openxmlformats.org/officeDocument/2006/relationships/notesMaster" Target="/ppt/notesMasters/notesMaster1.xml" Id="R13a3b813a0434d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c3ef63ed2249bd" /><Relationship Type="http://schemas.openxmlformats.org/officeDocument/2006/relationships/notesMaster" Target="/ppt/notesMasters/notesMaster1.xml" Id="R301585df8d324f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36109aa0d9495b" /><Relationship Type="http://schemas.openxmlformats.org/officeDocument/2006/relationships/notesMaster" Target="/ppt/notesMasters/notesMaster1.xml" Id="Rdcd702a0f4aa42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6c1018b93d45bd" /><Relationship Type="http://schemas.openxmlformats.org/officeDocument/2006/relationships/notesMaster" Target="/ppt/notesMasters/notesMaster1.xml" Id="Rd18e44aa24bd4c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c6af20415d4899" /><Relationship Type="http://schemas.openxmlformats.org/officeDocument/2006/relationships/notesMaster" Target="/ppt/notesMasters/notesMaster1.xml" Id="Rd91d15bdfe0d41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7397b2be044fdc" /><Relationship Type="http://schemas.openxmlformats.org/officeDocument/2006/relationships/notesMaster" Target="/ppt/notesMasters/notesMaster1.xml" Id="R1111960bf3a542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73d7cc33c1475a" /><Relationship Type="http://schemas.openxmlformats.org/officeDocument/2006/relationships/notesMaster" Target="/ppt/notesMasters/notesMaster1.xml" Id="R99ca9221d5a444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b7d448f144447f" /><Relationship Type="http://schemas.openxmlformats.org/officeDocument/2006/relationships/notesMaster" Target="/ppt/notesMasters/notesMaster1.xml" Id="R8a3d7420fbbc46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532d0d762a42b5" /><Relationship Type="http://schemas.openxmlformats.org/officeDocument/2006/relationships/notesMaster" Target="/ppt/notesMasters/notesMaster1.xml" Id="R74808f783fd644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Good morning. This project develops a Python program for steady-state AC power flow using the Newton–Raphson method. I will explain the mathematical model, the custom solver and the evidence supporting the numerical results. The scope is a balanced series-line network.</a:t>
            </a:r>
          </a:p>
          <a:p xmlns:a="http://schemas.openxmlformats.org/drawingml/2006/main">
            <a:r>
              <a:t/>
            </a:r>
          </a:p>
          <a:p xmlns:a="http://schemas.openxmlformats.org/drawingml/2006/main">
            <a:r>
              <a:t>Điểm cần hiểu:</a:t>
            </a:r>
          </a:p>
          <a:p xmlns:a="http://schemas.openxmlformats.org/drawingml/2006/main">
            <a:r>
              <a:t>Nói được mục tiêu; bổ sung tên và GVHD trước khi nộp.</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Demand and scheduled generation do not directly give every voltage or branch flow. Losses depend on current, while current depends on voltage. Power flow resolves this coupled operating point so we can inspect voltages and line power transfers.</a:t>
            </a:r>
          </a:p>
          <a:p xmlns:a="http://schemas.openxmlformats.org/drawingml/2006/main">
            <a:r>
              <a:t/>
            </a:r>
          </a:p>
          <a:p xmlns:a="http://schemas.openxmlformats.org/drawingml/2006/main">
            <a:r>
              <a:t>Điểm cần hiểu:</a:t>
            </a:r>
          </a:p>
          <a:p xmlns:a="http://schemas.openxmlformats.org/drawingml/2006/main">
            <a:r>
              <a:t>Điện áp chưa biết khiến tổn thất chưa biết; đây là bài toán phi tuyến.</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objective is to build a transparent solver and validate it with reproducible cases. The implementation includes Slack, PV and PQ buses. It uses constant-power demands and series inductive lines. Equipment limits and transient behavior are outside this project.</a:t>
            </a:r>
          </a:p>
          <a:p xmlns:a="http://schemas.openxmlformats.org/drawingml/2006/main">
            <a:r>
              <a:t/>
            </a:r>
          </a:p>
          <a:p xmlns:a="http://schemas.openxmlformats.org/drawingml/2006/main">
            <a:r>
              <a:t>Điểm cần hiểu:</a:t>
            </a:r>
          </a:p>
          <a:p xmlns:a="http://schemas.openxmlformats.org/drawingml/2006/main">
            <a:r>
              <a:t>Phân biệt mô hình đã có và future work; không khẳng định vận hành thực tế khả thi.</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We define net injection as generation minus demand. Current follows I equals Ybus V. Complex power is voltage times conjugate current. The unknown state contains non-reference angles and PQ voltage magnitudes. The three-bus case therefore has three state variables.</a:t>
            </a:r>
          </a:p>
          <a:p xmlns:a="http://schemas.openxmlformats.org/drawingml/2006/main">
            <a:r>
              <a:t/>
            </a:r>
          </a:p>
          <a:p xmlns:a="http://schemas.openxmlformats.org/drawingml/2006/main">
            <a:r>
              <a:t>Điểm cần hiểu:</a:t>
            </a:r>
          </a:p>
          <a:p xmlns:a="http://schemas.openxmlformats.org/drawingml/2006/main">
            <a:r>
              <a:t>Phải nhớ liên hợp phức và dấu Pg−Pd; góc nội bộ radian.</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reference bus fixes magnitude and angle. A PV bus fixes active injection and magnitude, so its reactive injection is an output. A PQ bus fixes both power injections. Each series admittance contributes positively to two diagonal Ybus entries and negatively to the cross entries.</a:t>
            </a:r>
          </a:p>
          <a:p xmlns:a="http://schemas.openxmlformats.org/drawingml/2006/main">
            <a:r>
              <a:t/>
            </a:r>
          </a:p>
          <a:p xmlns:a="http://schemas.openxmlformats.org/drawingml/2006/main">
            <a:r>
              <a:t>Điểm cần hiểu:</a:t>
            </a:r>
          </a:p>
          <a:p xmlns:a="http://schemas.openxmlformats.org/drawingml/2006/main">
            <a:r>
              <a:t>PV không có phương trình mismatch Q khi vẫn giữ V; một nhánh đóng góp bốn ô Ybus.</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mismatch is specified power minus calculated power. The Jacobian differentiates calculated injections. Linearization therefore gives J times the correction equals mismatch. We solve this system directly with NumPy, then update only the unknown variables.</a:t>
            </a:r>
          </a:p>
          <a:p xmlns:a="http://schemas.openxmlformats.org/drawingml/2006/main">
            <a:r>
              <a:t/>
            </a:r>
          </a:p>
          <a:p xmlns:a="http://schemas.openxmlformats.org/drawingml/2006/main">
            <a:r>
              <a:t>Điểm cần hiểu:</a:t>
            </a:r>
          </a:p>
          <a:p xmlns:a="http://schemas.openxmlformats.org/drawingml/2006/main">
            <a:r>
              <a:t>Giải thích được dấu của J; H,N,M,L và không dùng inverse.</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algorithm validates the data and builds Ybus once. It calculates mismatch at each state. If the tolerance is reached, it exports the solution. Otherwise, it solves the Jacobian system and repeats. A numerical failure or exhausted update budget produces a diagnostic.</a:t>
            </a:r>
          </a:p>
          <a:p xmlns:a="http://schemas.openxmlformats.org/drawingml/2006/main">
            <a:r>
              <a:t/>
            </a:r>
          </a:p>
          <a:p xmlns:a="http://schemas.openxmlformats.org/drawingml/2006/main">
            <a:r>
              <a:t>Điểm cần hiểu:</a:t>
            </a:r>
          </a:p>
          <a:p xmlns:a="http://schemas.openxmlformats.org/drawingml/2006/main">
            <a:r>
              <a:t>History k=0 là ban đầu; tối đa 30 cập nhật; failure không có nghĩa vô nghiệm.</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project separates input validation, network construction, power evaluation, derivatives and iteration. Both the command-line script and Streamlit interface call this same core. PYPOWER belongs only to the independent verification script. It is not used to generate the project solution.</a:t>
            </a:r>
          </a:p>
          <a:p xmlns:a="http://schemas.openxmlformats.org/drawingml/2006/main">
            <a:r>
              <a:t/>
            </a:r>
          </a:p>
          <a:p xmlns:a="http://schemas.openxmlformats.org/drawingml/2006/main">
            <a:r>
              <a:t>Điểm cần hiểu:</a:t>
            </a:r>
          </a:p>
          <a:p xmlns:a="http://schemas.openxmlformats.org/drawingml/2006/main">
            <a:r>
              <a:t>Hiểu từng module và dữ liệu qua các bước; không có solver riêng cho UI.</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supplied case has one Slack bus, one PV generator bus and one PQ load. All quantities use a 100 MVA base. The line model contains only series resistance and reactance. The state vector is delta two, delta three and the third-bus voltage magnitude.</a:t>
            </a:r>
          </a:p>
          <a:p xmlns:a="http://schemas.openxmlformats.org/drawingml/2006/main">
            <a:r>
              <a:t/>
            </a:r>
          </a:p>
          <a:p xmlns:a="http://schemas.openxmlformats.org/drawingml/2006/main">
            <a:r>
              <a:t>Điểm cần hiểu:</a:t>
            </a:r>
          </a:p>
          <a:p xmlns:a="http://schemas.openxmlformats.org/drawingml/2006/main">
            <a:r>
              <a:t>Dữ liệu do đề bài cung cấp, không gán nhãn IEEE.</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load-bus voltage is about 0.984385 per unit. Bus two has a positive angle and the load bus a negative angle. Total active loss is about 2.204693 megawatts. The Slack generation plus 50 megawatts at bus two equals 60 megawatts demand plus loss. The PV bus absorbs reactive power to hold its specified voltage.</a:t>
            </a:r>
          </a:p>
          <a:p xmlns:a="http://schemas.openxmlformats.org/drawingml/2006/main">
            <a:r>
              <a:t/>
            </a:r>
          </a:p>
          <a:p xmlns:a="http://schemas.openxmlformats.org/drawingml/2006/main">
            <a:r>
              <a:t>Điểm cần hiểu:</a:t>
            </a:r>
          </a:p>
          <a:p xmlns:a="http://schemas.openxmlformats.org/drawingml/2006/main">
            <a:r>
              <a:t>Q âm không nhất thiết sai; chưa kiểm tra giới hạn máy phát.</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nominal three-bus case converges in four Newton updates. The chart displays the base-ten logarithm of maximum mismatch, so lower values indicate smaller error. Thirty-four tests pass. The six PYPOWER comparisons agree to near floating-point precision for these small cases.</a:t>
            </a:r>
          </a:p>
          <a:p xmlns:a="http://schemas.openxmlformats.org/drawingml/2006/main">
            <a:r>
              <a:t/>
            </a:r>
          </a:p>
          <a:p xmlns:a="http://schemas.openxmlformats.org/drawingml/2006/main">
            <a:r>
              <a:t>Điểm cần hiểu:</a:t>
            </a:r>
          </a:p>
          <a:p xmlns:a="http://schemas.openxmlformats.org/drawingml/2006/main">
            <a:r>
              <a:t>Đồ thị là log10 residual, không đọc giá trị âm thành mismatch âm.</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second network is synthetic. Demand scales to eighty, one hundred and one hundred twenty percent while generation schedules and voltage setpoints stay fixed. The minimum voltage falls and active losses rise for these cases. This experiment does not establish a stability limit.</a:t>
            </a:r>
          </a:p>
          <a:p xmlns:a="http://schemas.openxmlformats.org/drawingml/2006/main">
            <a:r>
              <a:t/>
            </a:r>
          </a:p>
          <a:p xmlns:a="http://schemas.openxmlformats.org/drawingml/2006/main">
            <a:r>
              <a:t>Điểm cần hiểu:</a:t>
            </a:r>
          </a:p>
          <a:p xmlns:a="http://schemas.openxmlformats.org/drawingml/2006/main">
            <a:r>
              <a:t>Nói được synthetic và tải PV tăng khiến Pnet giảm.</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A mathematical power-flow solution does not certify real operating feasibility. This model excludes reactive capability, voltage bounds and thermal ratings. The solver is dense and undamped. My first proposed extension is reactive-limit handling with PV-to-PQ switching, followed by additional branch models.</a:t>
            </a:r>
          </a:p>
          <a:p xmlns:a="http://schemas.openxmlformats.org/drawingml/2006/main">
            <a:r>
              <a:t/>
            </a:r>
          </a:p>
          <a:p xmlns:a="http://schemas.openxmlformats.org/drawingml/2006/main">
            <a:r>
              <a:t>Điểm cần hiểu:</a:t>
            </a:r>
          </a:p>
          <a:p xmlns:a="http://schemas.openxmlformats.org/drawingml/2006/main">
            <a:r>
              <a:t>Các mở rộng chưa làm; không dùng kết quả để nhận xét ổn định động.</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The project connects circuit equations to a transparent Python implementation. Both networks and all six load scenarios are reproducible. The verification evidence supports the algorithm within its stated assumptions. The remaining academic work is supervisor review, personal information completion and demonstrating understanding of the derivation and code.</a:t>
            </a:r>
          </a:p>
          <a:p xmlns:a="http://schemas.openxmlformats.org/drawingml/2006/main">
            <a:r>
              <a:t/>
            </a:r>
          </a:p>
          <a:p xmlns:a="http://schemas.openxmlformats.org/drawingml/2006/main">
            <a:r>
              <a:t>Điểm cần hiểu:</a:t>
            </a:r>
          </a:p>
          <a:p xmlns:a="http://schemas.openxmlformats.org/drawingml/2006/main">
            <a:r>
              <a:t>Không nhận bộ nháp kỹ thuật là đã được GVHD duyệt; sinh viên phải tự chạy và hiểu.</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English script:</a:t>
            </a:r>
          </a:p>
          <a:p xmlns:a="http://schemas.openxmlformats.org/drawingml/2006/main">
            <a:r>
              <a:t>Thank you for listening. I welcome questions about the model assumptions, the Jacobian, numerical verification or the code. I can also demonstrate one Newton update and explain the limitations of the current implementation.</a:t>
            </a:r>
          </a:p>
          <a:p xmlns:a="http://schemas.openxmlformats.org/drawingml/2006/main">
            <a:r>
              <a:t/>
            </a:r>
          </a:p>
          <a:p xmlns:a="http://schemas.openxmlformats.org/drawingml/2006/main">
            <a:r>
              <a:t>Điểm cần hiểu:</a:t>
            </a:r>
          </a:p>
          <a:p xmlns:a="http://schemas.openxmlformats.org/drawingml/2006/main">
            <a:r>
              <a:t>Chuẩn bị demo mạng 3 bus và file first_iteration.json; trả lời trung thực phần đã hiểu.</a:t>
            </a:r>
          </a:p>
          <a:p xmlns:a="http://schemas.openxmlformats.org/drawingml/2006/main">
            <a:r>
              <a:t/>
            </a:r>
          </a:p>
          <a:p xmlns:a="http://schemas.openxmlformats.org/drawingml/2006/main">
            <a:r>
              <a:t>Sources: Project results/results.json and original implementation. Technical formulation: https://matpower.app/manual/matpower/ACPowerFlow.html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619864846948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8731ba9ecd43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9115b0815b48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95b823bc3242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771c82ba2b47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c02f0fe0c54d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44FE21-98A5-426F-8D51-49B0E474EE3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FCE0AE-8E0C-4C2A-B2C5-1F8C29F3A2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82401B-0316-4861-B14A-878852FD9F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96D103-A801-42AF-A1C6-E3EE6D998E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26585E-9F6C-449E-88DE-379ACBD143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D41731-3862-4360-84B7-3CD04480E4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21568E-ABB6-47C1-9487-59FDBD7B5E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C2DEA7-993C-432D-876C-749EF88988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AC1B61-B579-4F07-9A21-5CFE09E59B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B55931-845E-48E6-8F19-C29F460624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defbd3590646e8" /><Relationship Type="http://schemas.openxmlformats.org/officeDocument/2006/relationships/slideLayout" Target="/ppt/slideLayouts/slideLayout1.xml" Id="Reda0ac43eace43f3" /><Relationship Type="http://schemas.openxmlformats.org/officeDocument/2006/relationships/slideLayout" Target="/ppt/slideLayouts/slideLayout2.xml" Id="R0be52ecc55be4cd5" /><Relationship Type="http://schemas.openxmlformats.org/officeDocument/2006/relationships/slideLayout" Target="/ppt/slideLayouts/slideLayout3.xml" Id="R95c5f1a1146743d4" /><Relationship Type="http://schemas.openxmlformats.org/officeDocument/2006/relationships/slideLayout" Target="/ppt/slideLayouts/slideLayout4.xml" Id="R64cbde1e7cde49e8" /><Relationship Type="http://schemas.openxmlformats.org/officeDocument/2006/relationships/slideLayout" Target="/ppt/slideLayouts/slideLayout5.xml" Id="Rd4512e22e6db47ad" /><Relationship Type="http://schemas.openxmlformats.org/officeDocument/2006/relationships/slideLayout" Target="/ppt/slideLayouts/slideLayout6.xml" Id="R8d9790b919de49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a0ac43eace43f3"/>
    <p:sldLayoutId xmlns:r="http://schemas.openxmlformats.org/officeDocument/2006/relationships" id="2147483650" r:id="R0be52ecc55be4cd5"/>
    <p:sldLayoutId xmlns:r="http://schemas.openxmlformats.org/officeDocument/2006/relationships" id="2147483651" r:id="R95c5f1a1146743d4"/>
    <p:sldLayoutId xmlns:r="http://schemas.openxmlformats.org/officeDocument/2006/relationships" id="2147483652" r:id="R64cbde1e7cde49e8"/>
    <p:sldLayoutId xmlns:r="http://schemas.openxmlformats.org/officeDocument/2006/relationships" id="2147483653" r:id="Rd4512e22e6db47ad"/>
    <p:sldLayoutId xmlns:r="http://schemas.openxmlformats.org/officeDocument/2006/relationships" id="2147483654" r:id="R8d9790b919de49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cedd1a9fea453d" /><Relationship Type="http://schemas.openxmlformats.org/officeDocument/2006/relationships/notesSlide" Target="/ppt/notesSlides/notesSlide1.xml" Id="R40df31eca55e43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4a89a18a3b4d60" /><Relationship Type="http://schemas.openxmlformats.org/officeDocument/2006/relationships/notesSlide" Target="/ppt/notesSlides/notesSlide2.xml" Id="R6d13be09a61847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cb5cd9d4654b46" /><Relationship Type="http://schemas.openxmlformats.org/officeDocument/2006/relationships/notesSlide" Target="/ppt/notesSlides/notesSlide3.xml" Id="Ra72769b0263646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d35beced414379" /><Relationship Type="http://schemas.openxmlformats.org/officeDocument/2006/relationships/notesSlide" Target="/ppt/notesSlides/notesSlide4.xml" Id="Rfa94e0ff64d64c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daab3a48ad4d97" /><Relationship Type="http://schemas.openxmlformats.org/officeDocument/2006/relationships/notesSlide" Target="/ppt/notesSlides/notesSlide5.xml" Id="R71327a664c944f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c62357ec5345a1" /><Relationship Type="http://schemas.openxmlformats.org/officeDocument/2006/relationships/notesSlide" Target="/ppt/notesSlides/notesSlide6.xml" Id="R4c1cd982b5be46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262378e64e4ff2" /><Relationship Type="http://schemas.openxmlformats.org/officeDocument/2006/relationships/notesSlide" Target="/ppt/notesSlides/notesSlide7.xml" Id="R46ff8de40f8445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07e8aeabdc44e29" /><Relationship Type="http://schemas.openxmlformats.org/officeDocument/2006/relationships/notesSlide" Target="/ppt/notesSlides/notesSlide8.xml" Id="R7e70b05406934e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295d0072f144e3" /><Relationship Type="http://schemas.openxmlformats.org/officeDocument/2006/relationships/notesSlide" Target="/ppt/notesSlides/notesSlide9.xml" Id="Redd6568ad03349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22a0f92e0b84d2a" /><Relationship Type="http://schemas.openxmlformats.org/officeDocument/2006/relationships/notesSlide" Target="/ppt/notesSlides/notesSlide10.xml" Id="R76b6556f9ebc46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7f42ea21d3f409c" /><Relationship Type="http://schemas.openxmlformats.org/officeDocument/2006/relationships/chart" Target="/ppt/slides/charts/chart1.xml" Id="Rcfb50b839d5948cb" /><Relationship Type="http://schemas.openxmlformats.org/officeDocument/2006/relationships/notesSlide" Target="/ppt/notesSlides/notesSlide11.xml" Id="R24d29be3271945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a58a7a131245d0" /><Relationship Type="http://schemas.openxmlformats.org/officeDocument/2006/relationships/chart" Target="/ppt/slides/charts/chart2.xml" Id="R8f727f08246c4f30" /><Relationship Type="http://schemas.openxmlformats.org/officeDocument/2006/relationships/notesSlide" Target="/ppt/notesSlides/notesSlide12.xml" Id="R0d767f9597f64f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fa9b2a9f671461b" /><Relationship Type="http://schemas.openxmlformats.org/officeDocument/2006/relationships/notesSlide" Target="/ppt/notesSlides/notesSlide13.xml" Id="R9a06afd4002a44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c6b8ea6c4a64f2b" /><Relationship Type="http://schemas.openxmlformats.org/officeDocument/2006/relationships/notesSlide" Target="/ppt/notesSlides/notesSlide14.xml" Id="Raf265bd769fb4b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7a2c808e4843b5" /><Relationship Type="http://schemas.openxmlformats.org/officeDocument/2006/relationships/notesSlide" Target="/ppt/notesSlides/notesSlide15.xml" Id="R8bb60a47b7ba4d9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log10 residual</c:v>
          </c:tx>
          <c:spPr>
            <a:ln xmlns:a="http://schemas.openxmlformats.org/drawingml/2006/main" w="28575">
              <a:solidFill>
                <a:srgbClr val="176C9B"/>
              </a:solidFill>
              <a:prstDash val="solid"/>
            </a:ln>
          </c:spPr>
          <c:marker>
            <c:symbol val="none"/>
          </c:marker>
          <c:cat>
            <c:numRef>
              <c:f>'Chart Data'!$A$2:$A$6</c:f>
              <c:numCache>
                <c:formatCode>General</c:formatCode>
                <c:ptCount val="5"/>
                <c:pt idx="0">
                  <c:v>0</c:v>
                </c:pt>
                <c:pt idx="1">
                  <c:v>1</c:v>
                </c:pt>
                <c:pt idx="2">
                  <c:v>2</c:v>
                </c:pt>
                <c:pt idx="3">
                  <c:v>3</c:v>
                </c:pt>
                <c:pt idx="4">
                  <c:v>4</c:v>
                </c:pt>
              </c:numCache>
            </c:numRef>
          </c:cat>
          <c:val>
            <c:numRef>
              <c:f>'Chart Data'!$B$2:$B$6</c:f>
              <c:numCache>
                <c:formatCode>General</c:formatCode>
                <c:ptCount val="5"/>
                <c:pt idx="0">
                  <c:v>-0.20830935098</c:v>
                </c:pt>
                <c:pt idx="1">
                  <c:v>-1.93487135005</c:v>
                </c:pt>
                <c:pt idx="2">
                  <c:v>-4.6146821555</c:v>
                </c:pt>
                <c:pt idx="3">
                  <c:v>-9.98073116134</c:v>
                </c:pt>
                <c:pt idx="4">
                  <c:v>-15.2142270807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0"/>
          <c:min val="-16"/>
        </c:scaling>
        <c:delete val="0"/>
        <c:axPos val="l"/>
        <c:majorGridlines>
          <c:spPr>
            <a:ln xmlns:a="http://schemas.openxmlformats.org/drawingml/2006/main" w="9525">
              <a:solidFill>
                <a:srgbClr val="DDE5EB"/>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log10 mismatch (pu)</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Loss MW</c:v>
          </c:tx>
          <c:spPr>
            <a:ln xmlns:a="http://schemas.openxmlformats.org/drawingml/2006/main" w="28575">
              <a:solidFill>
                <a:srgbClr val="176C9B"/>
              </a:solidFill>
              <a:prstDash val="solid"/>
            </a:ln>
          </c:spPr>
          <c:marker>
            <c:symbol val="none"/>
          </c:marker>
          <c:cat>
            <c:strRef>
              <c:f>'Chart Data'!$A$2:$A$4</c:f>
              <c:strCache>
                <c:ptCount val="3"/>
                <c:pt idx="0">
                  <c:v>80%</c:v>
                </c:pt>
                <c:pt idx="1">
                  <c:v>100%</c:v>
                </c:pt>
                <c:pt idx="2">
                  <c:v>120%</c:v>
                </c:pt>
              </c:strCache>
            </c:strRef>
          </c:cat>
          <c:val>
            <c:numRef>
              <c:f>'Chart Data'!$B$2:$B$4</c:f>
              <c:numCache>
                <c:formatCode>General</c:formatCode>
                <c:ptCount val="3"/>
                <c:pt idx="0">
                  <c:v>2.61742102956</c:v>
                </c:pt>
                <c:pt idx="1">
                  <c:v>3.6504869799</c:v>
                </c:pt>
                <c:pt idx="2">
                  <c:v>5.1437036838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DDE5EB"/>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Active loss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86BB1D-2E42-49E5-B509-0E11F63C1E48}"/>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Steady-state AC power flow</a:t>
            </a:r>
          </a:p>
        </p:txBody>
      </p:sp>
      <p:sp>
        <p:nvSpPr>
          <p:cNvPr id="2" name="">
            <a:extLst xmlns:a="http://schemas.openxmlformats.org/drawingml/2006/main">
              <a:ext uri="{FF2B5EF4-FFF2-40B4-BE49-F238E27FC236}">
                <a16:creationId xmlns:a16="http://schemas.microsoft.com/office/drawing/2014/main" id="{F44F8A0C-E320-4982-8624-DC27577111E4}"/>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EA698A6-4289-4168-AC57-592F7B950B15}"/>
              </a:ext>
            </a:extLst>
          </p:cNvPr>
          <p:cNvSpPr>
            <a:spLocks xmlns:a="http://schemas.openxmlformats.org/drawingml/2006/main" noGrp="1"/>
          </p:cNvSpPr>
          <p:nvPr/>
        </p:nvSpPr>
        <p:spPr>
          <a:xfrm xmlns:a="http://schemas.openxmlformats.org/drawingml/2006/main">
            <a:off x="619125" y="1952625"/>
            <a:ext cx="10668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5354D"/>
                </a:solidFill>
                <a:latin typeface="Arial"/>
                <a:ea typeface="Arial"/>
                <a:cs typeface="Arial"/>
              </a:defRPr>
            </a:defPPr>
          </a:lstStyle>
          <a:p xmlns:a="http://schemas.openxmlformats.org/drawingml/2006/main">
            <a:pPr>
              <a:defRPr sz="3675" b="1">
                <a:solidFill>
                  <a:srgbClr val="15354D"/>
                </a:solidFill>
                <a:latin typeface="Arial"/>
                <a:ea typeface="Arial"/>
                <a:cs typeface="Arial"/>
              </a:defRPr>
            </a:pPr>
            <a:r>
              <a:rPr sz="3675" b="1">
                <a:solidFill>
                  <a:srgbClr val="15354D"/>
                </a:solidFill>
                <a:latin typeface="Arial"/>
                <a:ea typeface="Arial"/>
                <a:cs typeface="Arial"/>
              </a:rPr>
              <a:t>A Python implementation of</a:t>
            </a:r>
          </a:p>
          <a:p xmlns:a="http://schemas.openxmlformats.org/drawingml/2006/main">
            <a:pPr>
              <a:defRPr sz="3675" b="1">
                <a:solidFill>
                  <a:srgbClr val="15354D"/>
                </a:solidFill>
                <a:latin typeface="Arial"/>
                <a:ea typeface="Arial"/>
                <a:cs typeface="Arial"/>
              </a:defRPr>
            </a:pPr>
            <a:r>
              <a:rPr sz="3675" b="1">
                <a:solidFill>
                  <a:srgbClr val="15354D"/>
                </a:solidFill>
                <a:latin typeface="Arial"/>
                <a:ea typeface="Arial"/>
                <a:cs typeface="Arial"/>
              </a:rPr>
              <a:t>the Newton–Raphson method</a:t>
            </a:r>
          </a:p>
        </p:txBody>
      </p:sp>
      <p:sp>
        <p:nvSpPr>
          <p:cNvPr id="4" name="">
            <a:extLst xmlns:a="http://schemas.openxmlformats.org/drawingml/2006/main">
              <a:ext uri="{FF2B5EF4-FFF2-40B4-BE49-F238E27FC236}">
                <a16:creationId xmlns:a16="http://schemas.microsoft.com/office/drawing/2014/main" id="{504B9A3A-06EB-46BF-A0A3-1AD8DE928D5E}"/>
              </a:ext>
            </a:extLst>
          </p:cNvPr>
          <p:cNvSpPr>
            <a:spLocks xmlns:a="http://schemas.openxmlformats.org/drawingml/2006/main" noGrp="1"/>
          </p:cNvSpPr>
          <p:nvPr/>
        </p:nvSpPr>
        <p:spPr>
          <a:xfrm xmlns:a="http://schemas.openxmlformats.org/drawingml/2006/main">
            <a:off x="619125" y="4238625"/>
            <a:ext cx="1047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5354D"/>
                </a:solidFill>
                <a:latin typeface="Arial"/>
                <a:ea typeface="Arial"/>
                <a:cs typeface="Arial"/>
              </a:defRPr>
            </a:defPPr>
          </a:lstStyle>
          <a:p xmlns:a="http://schemas.openxmlformats.org/drawingml/2006/main">
            <a:pPr>
              <a:defRPr sz="1950" b="0">
                <a:solidFill>
                  <a:srgbClr val="15354D"/>
                </a:solidFill>
                <a:latin typeface="Arial"/>
                <a:ea typeface="Arial"/>
                <a:cs typeface="Arial"/>
              </a:defRPr>
            </a:pPr>
            <a:r>
              <a:rPr sz="1950" b="0">
                <a:solidFill>
                  <a:srgbClr val="15354D"/>
                </a:solidFill>
                <a:latin typeface="Arial"/>
                <a:ea typeface="Arial"/>
                <a:cs typeface="Arial"/>
              </a:rPr>
              <a:t>Project I  •  EE3810E</a:t>
            </a:r>
          </a:p>
          <a:p xmlns:a="http://schemas.openxmlformats.org/drawingml/2006/main">
            <a:pPr>
              <a:defRPr sz="1950" b="0">
                <a:solidFill>
                  <a:srgbClr val="15354D"/>
                </a:solidFill>
                <a:latin typeface="Arial"/>
                <a:ea typeface="Arial"/>
                <a:cs typeface="Arial"/>
              </a:defRPr>
            </a:pPr>
            <a:r>
              <a:rPr sz="1950" b="0">
                <a:solidFill>
                  <a:srgbClr val="15354D"/>
                </a:solidFill>
                <a:latin typeface="Arial"/>
                <a:ea typeface="Arial"/>
                <a:cs typeface="Arial"/>
              </a:rPr>
              <a:t>[STUDENT NAME]  •  [STUDENT ID]</a:t>
            </a:r>
          </a:p>
          <a:p xmlns:a="http://schemas.openxmlformats.org/drawingml/2006/main">
            <a:pPr>
              <a:defRPr sz="1950" b="0">
                <a:solidFill>
                  <a:srgbClr val="15354D"/>
                </a:solidFill>
                <a:latin typeface="Arial"/>
                <a:ea typeface="Arial"/>
                <a:cs typeface="Arial"/>
              </a:defRPr>
            </a:pPr>
            <a:r>
              <a:rPr sz="1950" b="0">
                <a:solidFill>
                  <a:srgbClr val="15354D"/>
                </a:solidFill>
                <a:latin typeface="Arial"/>
                <a:ea typeface="Arial"/>
                <a:cs typeface="Arial"/>
              </a:rPr>
              <a:t>[SUPERVISOR NAME]  •  [DATE]</a:t>
            </a:r>
          </a:p>
        </p:txBody>
      </p:sp>
    </p:spTree>
    <p:extLst>
      <p:ext uri="{BB962C8B-B14F-4D97-AF65-F5344CB8AC3E}">
        <p14:creationId xmlns:p14="http://schemas.microsoft.com/office/powerpoint/2010/main" val="12736338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42D505-1E8A-465E-AB48-81E25042518A}"/>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Why calculate power flow?</a:t>
            </a:r>
          </a:p>
        </p:txBody>
      </p:sp>
      <p:sp>
        <p:nvSpPr>
          <p:cNvPr id="2" name="">
            <a:extLst xmlns:a="http://schemas.openxmlformats.org/drawingml/2006/main">
              <a:ext uri="{FF2B5EF4-FFF2-40B4-BE49-F238E27FC236}">
                <a16:creationId xmlns:a16="http://schemas.microsoft.com/office/drawing/2014/main" id="{FEA451B3-A33C-40E9-82AE-9AB45FC1BC8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F9E739A4-2330-44A3-AF80-C04D104CB4B4}"/>
              </a:ext>
            </a:extLst>
          </p:cNvPr>
          <p:cNvGraphicFramePr/>
          <p:nvPr/>
        </p:nvGraphicFramePr>
        <p:xfrm>
          <a:off xmlns:a="http://schemas.openxmlformats.org/drawingml/2006/main" x="619125" y="1714500"/>
          <a:ext xmlns:a="http://schemas.openxmlformats.org/drawingml/2006/main" cx="10953750" cy="3333750"/>
        </p:xfrm>
        <a:graphic xmlns:a="http://schemas.openxmlformats.org/drawingml/2006/main">
          <a:graphicData uri="http://schemas.openxmlformats.org/drawingml/2006/table">
            <a:tbl>
              <a:tblPr/>
              <a:tblGrid>
                <a:gridCol w="5476875"/>
                <a:gridCol w="5476875"/>
              </a:tblGrid>
              <a:tr h="833438">
                <a:tc>
                  <a:txBody>
                    <a:bodyPr/>
                    <a:lstStyle/>
                    <a:p>
                      <a:r>
                        <a:rPr sz="1875" b="1">
                          <a:solidFill>
                            <a:srgbClr val="FFFFFF"/>
                          </a:solidFill>
                          <a:latin typeface="Arial"/>
                          <a:ea typeface="Arial"/>
                          <a:cs typeface="Arial"/>
                        </a:rPr>
                        <a:t>Known network information</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Quantities to determine</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833438">
                <a:tc>
                  <a:txBody>
                    <a:bodyPr/>
                    <a:lstStyle/>
                    <a:p>
                      <a:r>
                        <a:rPr sz="1875" b="0">
                          <a:solidFill>
                            <a:srgbClr val="15354D"/>
                          </a:solidFill>
                          <a:latin typeface="Arial"/>
                          <a:ea typeface="Arial"/>
                          <a:cs typeface="Arial"/>
                        </a:rPr>
                        <a:t>Demand and scheduled generation</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Bus voltage magnitudes and angles</a:t>
                      </a:r>
                    </a:p>
                  </a:txBody>
                  <a:tcPr marL="91440" marR="91440" marT="45720" marB="45720">
                    <a:lnR w="9525">
                      <a:solidFill>
                        <a:srgbClr val="CFDCE4"/>
                      </a:solidFill>
                      <a:prstDash val="solid"/>
                    </a:lnR>
                    <a:lnB w="9525">
                      <a:solidFill>
                        <a:srgbClr val="CFDCE4"/>
                      </a:solidFill>
                      <a:prstDash val="solid"/>
                    </a:lnB>
                    <a:solidFill>
                      <a:srgbClr val="FFFFFF"/>
                    </a:solidFill>
                  </a:tcPr>
                </a:tc>
              </a:tr>
              <a:tr h="833438">
                <a:tc>
                  <a:txBody>
                    <a:bodyPr/>
                    <a:lstStyle/>
                    <a:p>
                      <a:r>
                        <a:rPr sz="1875" b="0">
                          <a:solidFill>
                            <a:srgbClr val="15354D"/>
                          </a:solidFill>
                          <a:latin typeface="Arial"/>
                          <a:ea typeface="Arial"/>
                          <a:cs typeface="Arial"/>
                        </a:rPr>
                        <a:t>Branch impedances and topology</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Sending and receiving powers</a:t>
                      </a:r>
                    </a:p>
                  </a:txBody>
                  <a:tcPr marL="91440" marR="91440" marT="45720" marB="45720">
                    <a:lnR w="9525">
                      <a:solidFill>
                        <a:srgbClr val="CFDCE4"/>
                      </a:solidFill>
                      <a:prstDash val="solid"/>
                    </a:lnR>
                    <a:lnB w="9525">
                      <a:solidFill>
                        <a:srgbClr val="CFDCE4"/>
                      </a:solidFill>
                      <a:prstDash val="solid"/>
                    </a:lnB>
                    <a:solidFill>
                      <a:srgbClr val="EAF1F6"/>
                    </a:solidFill>
                  </a:tcPr>
                </a:tc>
              </a:tr>
              <a:tr h="833438">
                <a:tc>
                  <a:txBody>
                    <a:bodyPr/>
                    <a:lstStyle/>
                    <a:p>
                      <a:r>
                        <a:rPr sz="1875" b="0">
                          <a:solidFill>
                            <a:srgbClr val="15354D"/>
                          </a:solidFill>
                          <a:latin typeface="Arial"/>
                          <a:ea typeface="Arial"/>
                          <a:cs typeface="Arial"/>
                        </a:rPr>
                        <a:t>Voltage-control setpoints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Slack generation and active losses</a:t>
                      </a:r>
                    </a:p>
                  </a:txBody>
                  <a:tcPr marL="91440" marR="91440" marT="45720" marB="45720">
                    <a:lnR w="9525">
                      <a:solidFill>
                        <a:srgbClr val="CFDCE4"/>
                      </a:solidFill>
                      <a:prstDash val="solid"/>
                    </a:lnR>
                    <a:lnB w="9525">
                      <a:solidFill>
                        <a:srgbClr val="CFDC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C763D69-54E9-41FA-AF03-AADB5C98BA4A}"/>
              </a:ext>
            </a:extLst>
          </p:cNvPr>
          <p:cNvSpPr>
            <a:spLocks xmlns:a="http://schemas.openxmlformats.org/drawingml/2006/main" noGrp="1"/>
          </p:cNvSpPr>
          <p:nvPr/>
        </p:nvSpPr>
        <p:spPr>
          <a:xfrm xmlns:a="http://schemas.openxmlformats.org/drawingml/2006/main">
            <a:off x="619125" y="547687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5354D"/>
                </a:solidFill>
                <a:latin typeface="Arial"/>
                <a:ea typeface="Arial"/>
                <a:cs typeface="Arial"/>
              </a:defRPr>
            </a:defPPr>
          </a:lstStyle>
          <a:p xmlns:a="http://schemas.openxmlformats.org/drawingml/2006/main">
            <a:pPr>
              <a:defRPr sz="2025" b="0">
                <a:solidFill>
                  <a:srgbClr val="15354D"/>
                </a:solidFill>
                <a:latin typeface="Arial"/>
                <a:ea typeface="Arial"/>
                <a:cs typeface="Arial"/>
              </a:defRPr>
            </a:pPr>
            <a:r>
              <a:rPr sz="2025" b="0">
                <a:solidFill>
                  <a:srgbClr val="15354D"/>
                </a:solidFill>
                <a:latin typeface="Arial"/>
                <a:ea typeface="Arial"/>
                <a:cs typeface="Arial"/>
              </a:rPr>
              <a:t>Steady state uses fixed phasors for sinusoidal AC operation</a:t>
            </a:r>
          </a:p>
        </p:txBody>
      </p:sp>
    </p:spTree>
    <p:extLst>
      <p:ext uri="{BB962C8B-B14F-4D97-AF65-F5344CB8AC3E}">
        <p14:creationId xmlns:p14="http://schemas.microsoft.com/office/powerpoint/2010/main" val="11436253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4EC6F88-4732-43EC-839B-66F2ACE9F475}"/>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Objectives and scope</a:t>
            </a:r>
          </a:p>
        </p:txBody>
      </p:sp>
      <p:sp>
        <p:nvSpPr>
          <p:cNvPr id="2" name="">
            <a:extLst xmlns:a="http://schemas.openxmlformats.org/drawingml/2006/main">
              <a:ext uri="{FF2B5EF4-FFF2-40B4-BE49-F238E27FC236}">
                <a16:creationId xmlns:a16="http://schemas.microsoft.com/office/drawing/2014/main" id="{11AF0C37-F9A0-4890-A521-DFB85E1F145B}"/>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738EBB6E-149C-4C3D-882F-3CAA84FAFCD7}"/>
              </a:ext>
            </a:extLst>
          </p:cNvPr>
          <p:cNvGraphicFramePr/>
          <p:nvPr/>
        </p:nvGraphicFramePr>
        <p:xfrm>
          <a:off xmlns:a="http://schemas.openxmlformats.org/drawingml/2006/main" x="619125" y="1714500"/>
          <a:ext xmlns:a="http://schemas.openxmlformats.org/drawingml/2006/main" cx="10953750" cy="3714750"/>
        </p:xfrm>
        <a:graphic xmlns:a="http://schemas.openxmlformats.org/drawingml/2006/main">
          <a:graphicData uri="http://schemas.openxmlformats.org/drawingml/2006/table">
            <a:tbl>
              <a:tblPr/>
              <a:tblGrid>
                <a:gridCol w="5476875"/>
                <a:gridCol w="5476875"/>
              </a:tblGrid>
              <a:tr h="742950">
                <a:tc>
                  <a:txBody>
                    <a:bodyPr/>
                    <a:lstStyle/>
                    <a:p>
                      <a:r>
                        <a:rPr sz="1875" b="1">
                          <a:solidFill>
                            <a:srgbClr val="FFFFFF"/>
                          </a:solidFill>
                          <a:latin typeface="Arial"/>
                          <a:ea typeface="Arial"/>
                          <a:cs typeface="Arial"/>
                        </a:rPr>
                        <a:t>Implemented</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Outside the model</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742950">
                <a:tc>
                  <a:txBody>
                    <a:bodyPr/>
                    <a:lstStyle/>
                    <a:p>
                      <a:r>
                        <a:rPr sz="1875" b="0">
                          <a:solidFill>
                            <a:srgbClr val="15354D"/>
                          </a:solidFill>
                          <a:latin typeface="Arial"/>
                          <a:ea typeface="Arial"/>
                          <a:cs typeface="Arial"/>
                        </a:rPr>
                        <a:t>Ybus and analytical Jacobian</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Line charging and transformer taps</a:t>
                      </a:r>
                    </a:p>
                  </a:txBody>
                  <a:tcPr marL="91440" marR="91440" marT="45720" marB="45720">
                    <a:lnR w="9525">
                      <a:solidFill>
                        <a:srgbClr val="CFDCE4"/>
                      </a:solidFill>
                      <a:prstDash val="solid"/>
                    </a:lnR>
                    <a:lnB w="9525">
                      <a:solidFill>
                        <a:srgbClr val="CFDCE4"/>
                      </a:solidFill>
                      <a:prstDash val="solid"/>
                    </a:lnB>
                    <a:solidFill>
                      <a:srgbClr val="FFFFFF"/>
                    </a:solidFill>
                  </a:tcPr>
                </a:tc>
              </a:tr>
              <a:tr h="742950">
                <a:tc>
                  <a:txBody>
                    <a:bodyPr/>
                    <a:lstStyle/>
                    <a:p>
                      <a:r>
                        <a:rPr sz="1875" b="0">
                          <a:solidFill>
                            <a:srgbClr val="15354D"/>
                          </a:solidFill>
                          <a:latin typeface="Arial"/>
                          <a:ea typeface="Arial"/>
                          <a:cs typeface="Arial"/>
                        </a:rPr>
                        <a:t>Custom Newton solver and branch flows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Generator reactive and thermal limits</a:t>
                      </a:r>
                    </a:p>
                  </a:txBody>
                  <a:tcPr marL="91440" marR="91440" marT="45720" marB="45720">
                    <a:lnR w="9525">
                      <a:solidFill>
                        <a:srgbClr val="CFDCE4"/>
                      </a:solidFill>
                      <a:prstDash val="solid"/>
                    </a:lnR>
                    <a:lnB w="9525">
                      <a:solidFill>
                        <a:srgbClr val="CFDCE4"/>
                      </a:solidFill>
                      <a:prstDash val="solid"/>
                    </a:lnB>
                    <a:solidFill>
                      <a:srgbClr val="EAF1F6"/>
                    </a:solidFill>
                  </a:tcPr>
                </a:tc>
              </a:tr>
              <a:tr h="742950">
                <a:tc>
                  <a:txBody>
                    <a:bodyPr/>
                    <a:lstStyle/>
                    <a:p>
                      <a:r>
                        <a:rPr sz="1875" b="0">
                          <a:solidFill>
                            <a:srgbClr val="15354D"/>
                          </a:solidFill>
                          <a:latin typeface="Arial"/>
                          <a:ea typeface="Arial"/>
                          <a:cs typeface="Arial"/>
                        </a:rPr>
                        <a:t>CSV input and shared Streamlit interface</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Unbalanced phases, dynamics and OPF</a:t>
                      </a:r>
                    </a:p>
                  </a:txBody>
                  <a:tcPr marL="91440" marR="91440" marT="45720" marB="45720">
                    <a:lnR w="9525">
                      <a:solidFill>
                        <a:srgbClr val="CFDCE4"/>
                      </a:solidFill>
                      <a:prstDash val="solid"/>
                    </a:lnR>
                    <a:lnB w="9525">
                      <a:solidFill>
                        <a:srgbClr val="CFDCE4"/>
                      </a:solidFill>
                      <a:prstDash val="solid"/>
                    </a:lnB>
                    <a:solidFill>
                      <a:srgbClr val="FFFFFF"/>
                    </a:solidFill>
                  </a:tcPr>
                </a:tc>
              </a:tr>
              <a:tr h="742950">
                <a:tc>
                  <a:txBody>
                    <a:bodyPr/>
                    <a:lstStyle/>
                    <a:p>
                      <a:r>
                        <a:rPr sz="1875" b="0">
                          <a:solidFill>
                            <a:srgbClr val="15354D"/>
                          </a:solidFill>
                          <a:latin typeface="Arial"/>
                          <a:ea typeface="Arial"/>
                          <a:cs typeface="Arial"/>
                        </a:rPr>
                        <a:t>Tests and independent comparison</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Large-network performance claims</a:t>
                      </a:r>
                    </a:p>
                  </a:txBody>
                  <a:tcPr marL="91440" marR="91440" marT="45720" marB="45720">
                    <a:lnR w="9525">
                      <a:solidFill>
                        <a:srgbClr val="CFDCE4"/>
                      </a:solidFill>
                      <a:prstDash val="solid"/>
                    </a:lnR>
                    <a:lnB w="9525">
                      <a:solidFill>
                        <a:srgbClr val="CFDCE4"/>
                      </a:solidFill>
                      <a:prstDash val="solid"/>
                    </a:lnB>
                    <a:solidFill>
                      <a:srgbClr val="EAF1F6"/>
                    </a:solidFill>
                  </a:tcPr>
                </a:tc>
              </a:tr>
            </a:tbl>
          </a:graphicData>
        </a:graphic>
      </p:graphicFrame>
    </p:spTree>
    <p:extLst>
      <p:ext uri="{BB962C8B-B14F-4D97-AF65-F5344CB8AC3E}">
        <p14:creationId xmlns:p14="http://schemas.microsoft.com/office/powerpoint/2010/main" val="19842833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33FC7B-F640-4F98-A012-6A08CC7BE4A4}"/>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The power-flow equations</a:t>
            </a:r>
          </a:p>
        </p:txBody>
      </p:sp>
      <p:sp>
        <p:nvSpPr>
          <p:cNvPr id="2" name="">
            <a:extLst xmlns:a="http://schemas.openxmlformats.org/drawingml/2006/main">
              <a:ext uri="{FF2B5EF4-FFF2-40B4-BE49-F238E27FC236}">
                <a16:creationId xmlns:a16="http://schemas.microsoft.com/office/drawing/2014/main" id="{E5200BF7-BFFD-40F1-B880-72F6EF50270A}"/>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622C152-56BF-4F5C-B4DB-A985DE075F08}"/>
              </a:ext>
            </a:extLst>
          </p:cNvPr>
          <p:cNvSpPr>
            <a:spLocks xmlns:a="http://schemas.openxmlformats.org/drawingml/2006/main" noGrp="1"/>
          </p:cNvSpPr>
          <p:nvPr/>
        </p:nvSpPr>
        <p:spPr>
          <a:xfrm xmlns:a="http://schemas.openxmlformats.org/drawingml/2006/main">
            <a:off x="619125" y="17145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54D"/>
                </a:solidFill>
                <a:latin typeface="Arial"/>
                <a:ea typeface="Arial"/>
                <a:cs typeface="Arial"/>
              </a:defRPr>
            </a:defPPr>
          </a:lstStyle>
          <a:p xmlns:a="http://schemas.openxmlformats.org/drawingml/2006/main">
            <a:pPr>
              <a:defRPr sz="2625" b="1">
                <a:solidFill>
                  <a:srgbClr val="15354D"/>
                </a:solidFill>
                <a:latin typeface="Arial"/>
                <a:ea typeface="Arial"/>
                <a:cs typeface="Arial"/>
              </a:defRPr>
            </a:pPr>
            <a:r>
              <a:rPr sz="2625" b="1">
                <a:solidFill>
                  <a:srgbClr val="15354D"/>
                </a:solidFill>
                <a:latin typeface="Arial"/>
                <a:ea typeface="Arial"/>
                <a:cs typeface="Arial"/>
              </a:rPr>
              <a:t>Net injection = generation − demand</a:t>
            </a:r>
          </a:p>
        </p:txBody>
      </p:sp>
      <p:sp>
        <p:nvSpPr>
          <p:cNvPr id="4" name="">
            <a:extLst xmlns:a="http://schemas.openxmlformats.org/drawingml/2006/main">
              <a:ext uri="{FF2B5EF4-FFF2-40B4-BE49-F238E27FC236}">
                <a16:creationId xmlns:a16="http://schemas.microsoft.com/office/drawing/2014/main" id="{2D555F8C-4232-4716-A679-3A17F39A9ECB}"/>
              </a:ext>
            </a:extLst>
          </p:cNvPr>
          <p:cNvSpPr>
            <a:spLocks xmlns:a="http://schemas.openxmlformats.org/drawingml/2006/main" noGrp="1"/>
          </p:cNvSpPr>
          <p:nvPr/>
        </p:nvSpPr>
        <p:spPr>
          <a:xfrm xmlns:a="http://schemas.openxmlformats.org/drawingml/2006/main">
            <a:off x="619125" y="2714625"/>
            <a:ext cx="107632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15354D"/>
                </a:solidFill>
                <a:latin typeface="Arial"/>
                <a:ea typeface="Arial"/>
                <a:cs typeface="Arial"/>
              </a:defRPr>
            </a:defPPr>
          </a:lstStyle>
          <a:p xmlns:a="http://schemas.openxmlformats.org/drawingml/2006/main">
            <a:pPr>
              <a:defRPr sz="2700" b="0">
                <a:solidFill>
                  <a:srgbClr val="15354D"/>
                </a:solidFill>
                <a:latin typeface="Arial"/>
                <a:ea typeface="Arial"/>
                <a:cs typeface="Arial"/>
              </a:defRPr>
            </a:pPr>
            <a:r>
              <a:rPr sz="2700" b="0">
                <a:solidFill>
                  <a:srgbClr val="15354D"/>
                </a:solidFill>
                <a:latin typeface="Arial"/>
                <a:ea typeface="Arial"/>
                <a:cs typeface="Arial"/>
              </a:rPr>
              <a:t>I = Ybus V</a:t>
            </a:r>
          </a:p>
          <a:p xmlns:a="http://schemas.openxmlformats.org/drawingml/2006/main">
            <a:pPr>
              <a:defRPr sz="2700" b="0">
                <a:solidFill>
                  <a:srgbClr val="15354D"/>
                </a:solidFill>
                <a:latin typeface="Arial"/>
                <a:ea typeface="Arial"/>
                <a:cs typeface="Arial"/>
              </a:defRPr>
            </a:pPr>
            <a:r>
              <a:rPr sz="2700" b="0">
                <a:solidFill>
                  <a:srgbClr val="15354D"/>
                </a:solidFill>
                <a:latin typeface="Arial"/>
                <a:ea typeface="Arial"/>
                <a:cs typeface="Arial"/>
              </a:rPr>
              <a:t>S = V ⊙ conjugate(I)</a:t>
            </a:r>
          </a:p>
          <a:p xmlns:a="http://schemas.openxmlformats.org/drawingml/2006/main">
            <a:pPr>
              <a:defRPr sz="2700" b="0">
                <a:solidFill>
                  <a:srgbClr val="15354D"/>
                </a:solidFill>
                <a:latin typeface="Arial"/>
                <a:ea typeface="Arial"/>
                <a:cs typeface="Arial"/>
              </a:defRPr>
            </a:pPr>
            <a:r>
              <a:rPr sz="2700" b="0">
                <a:solidFill>
                  <a:srgbClr val="15354D"/>
                </a:solidFill>
                <a:latin typeface="Arial"/>
                <a:ea typeface="Arial"/>
                <a:cs typeface="Arial"/>
              </a:rPr>
              <a:t>x = [δ at non-Slack buses; v at PQ buses]</a:t>
            </a:r>
          </a:p>
        </p:txBody>
      </p:sp>
      <p:sp>
        <p:nvSpPr>
          <p:cNvPr id="5" name="">
            <a:extLst xmlns:a="http://schemas.openxmlformats.org/drawingml/2006/main">
              <a:ext uri="{FF2B5EF4-FFF2-40B4-BE49-F238E27FC236}">
                <a16:creationId xmlns:a16="http://schemas.microsoft.com/office/drawing/2014/main" id="{68E1DAD4-912C-44FE-AD26-AF55F3643B17}"/>
              </a:ext>
            </a:extLst>
          </p:cNvPr>
          <p:cNvSpPr>
            <a:spLocks xmlns:a="http://schemas.openxmlformats.org/drawingml/2006/main" noGrp="1"/>
          </p:cNvSpPr>
          <p:nvPr/>
        </p:nvSpPr>
        <p:spPr>
          <a:xfrm xmlns:a="http://schemas.openxmlformats.org/drawingml/2006/main">
            <a:off x="619125" y="53340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76C9B"/>
                </a:solidFill>
                <a:latin typeface="Arial"/>
                <a:ea typeface="Arial"/>
                <a:cs typeface="Arial"/>
              </a:defRPr>
            </a:defPPr>
          </a:lstStyle>
          <a:p xmlns:a="http://schemas.openxmlformats.org/drawingml/2006/main">
            <a:pPr>
              <a:defRPr sz="2250" b="0">
                <a:solidFill>
                  <a:srgbClr val="176C9B"/>
                </a:solidFill>
                <a:latin typeface="Arial"/>
                <a:ea typeface="Arial"/>
                <a:cs typeface="Arial"/>
              </a:defRPr>
            </a:pPr>
            <a:r>
              <a:rPr sz="2250" b="0">
                <a:solidFill>
                  <a:srgbClr val="176C9B"/>
                </a:solidFill>
                <a:latin typeface="Arial"/>
                <a:ea typeface="Arial"/>
                <a:cs typeface="Arial"/>
              </a:rPr>
              <a:t>Three-bus state: [δ₂, δ₃, v₃]ᵀ</a:t>
            </a:r>
          </a:p>
        </p:txBody>
      </p:sp>
    </p:spTree>
    <p:extLst>
      <p:ext uri="{BB962C8B-B14F-4D97-AF65-F5344CB8AC3E}">
        <p14:creationId xmlns:p14="http://schemas.microsoft.com/office/powerpoint/2010/main" val="5322668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48FBF8-1EB6-4713-A4C2-FB2C157EEA0D}"/>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Bus types and network modeling</a:t>
            </a:r>
          </a:p>
        </p:txBody>
      </p:sp>
      <p:sp>
        <p:nvSpPr>
          <p:cNvPr id="2" name="">
            <a:extLst xmlns:a="http://schemas.openxmlformats.org/drawingml/2006/main">
              <a:ext uri="{FF2B5EF4-FFF2-40B4-BE49-F238E27FC236}">
                <a16:creationId xmlns:a16="http://schemas.microsoft.com/office/drawing/2014/main" id="{CA1E77AC-69F4-4697-8A56-78EB8929F3E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0C5D8B46-998E-4A18-92AD-BB5ED5A8A649}"/>
              </a:ext>
            </a:extLst>
          </p:cNvPr>
          <p:cNvGraphicFramePr/>
          <p:nvPr/>
        </p:nvGraphicFramePr>
        <p:xfrm>
          <a:off xmlns:a="http://schemas.openxmlformats.org/drawingml/2006/main" x="619125" y="1666875"/>
          <a:ext xmlns:a="http://schemas.openxmlformats.org/drawingml/2006/main" cx="10953750" cy="2667000"/>
        </p:xfrm>
        <a:graphic xmlns:a="http://schemas.openxmlformats.org/drawingml/2006/main">
          <a:graphicData uri="http://schemas.openxmlformats.org/drawingml/2006/table">
            <a:tbl>
              <a:tblPr/>
              <a:tblGrid>
                <a:gridCol w="3651250"/>
                <a:gridCol w="3651250"/>
                <a:gridCol w="3651250"/>
              </a:tblGrid>
              <a:tr h="666750">
                <a:tc>
                  <a:txBody>
                    <a:bodyPr/>
                    <a:lstStyle/>
                    <a:p>
                      <a:r>
                        <a:rPr sz="1875" b="1">
                          <a:solidFill>
                            <a:srgbClr val="FFFFFF"/>
                          </a:solidFill>
                          <a:latin typeface="Arial"/>
                          <a:ea typeface="Arial"/>
                          <a:cs typeface="Arial"/>
                        </a:rPr>
                        <a:t>Bus type</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Specified</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Solved</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666750">
                <a:tc>
                  <a:txBody>
                    <a:bodyPr/>
                    <a:lstStyle/>
                    <a:p>
                      <a:r>
                        <a:rPr sz="1875" b="0">
                          <a:solidFill>
                            <a:srgbClr val="15354D"/>
                          </a:solidFill>
                          <a:latin typeface="Arial"/>
                          <a:ea typeface="Arial"/>
                          <a:cs typeface="Arial"/>
                        </a:rPr>
                        <a:t>Slack</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v and δ</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P and Q</a:t>
                      </a:r>
                    </a:p>
                  </a:txBody>
                  <a:tcPr marL="91440" marR="91440" marT="45720" marB="45720">
                    <a:lnR w="9525">
                      <a:solidFill>
                        <a:srgbClr val="CFDCE4"/>
                      </a:solidFill>
                      <a:prstDash val="solid"/>
                    </a:lnR>
                    <a:lnB w="9525">
                      <a:solidFill>
                        <a:srgbClr val="CFDCE4"/>
                      </a:solidFill>
                      <a:prstDash val="solid"/>
                    </a:lnB>
                    <a:solidFill>
                      <a:srgbClr val="FFFFFF"/>
                    </a:solidFill>
                  </a:tcPr>
                </a:tc>
              </a:tr>
              <a:tr h="666750">
                <a:tc>
                  <a:txBody>
                    <a:bodyPr/>
                    <a:lstStyle/>
                    <a:p>
                      <a:r>
                        <a:rPr sz="1875" b="0">
                          <a:solidFill>
                            <a:srgbClr val="15354D"/>
                          </a:solidFill>
                          <a:latin typeface="Arial"/>
                          <a:ea typeface="Arial"/>
                          <a:cs typeface="Arial"/>
                        </a:rPr>
                        <a:t>PV</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P and v</a:t>
                      </a:r>
                    </a:p>
                  </a:txBody>
                  <a:tcPr marL="91440" marR="91440" marT="45720" marB="45720">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δ and Q</a:t>
                      </a:r>
                    </a:p>
                  </a:txBody>
                  <a:tcPr marL="91440" marR="91440" marT="45720" marB="45720">
                    <a:lnR w="9525">
                      <a:solidFill>
                        <a:srgbClr val="CFDCE4"/>
                      </a:solidFill>
                      <a:prstDash val="solid"/>
                    </a:lnR>
                    <a:lnB w="9525">
                      <a:solidFill>
                        <a:srgbClr val="CFDCE4"/>
                      </a:solidFill>
                      <a:prstDash val="solid"/>
                    </a:lnB>
                    <a:solidFill>
                      <a:srgbClr val="EAF1F6"/>
                    </a:solidFill>
                  </a:tcPr>
                </a:tc>
              </a:tr>
              <a:tr h="666750">
                <a:tc>
                  <a:txBody>
                    <a:bodyPr/>
                    <a:lstStyle/>
                    <a:p>
                      <a:r>
                        <a:rPr sz="1875" b="0">
                          <a:solidFill>
                            <a:srgbClr val="15354D"/>
                          </a:solidFill>
                          <a:latin typeface="Arial"/>
                          <a:ea typeface="Arial"/>
                          <a:cs typeface="Arial"/>
                        </a:rPr>
                        <a:t>PQ</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P and Q</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v and δ</a:t>
                      </a:r>
                    </a:p>
                  </a:txBody>
                  <a:tcPr marL="91440" marR="91440" marT="45720" marB="45720">
                    <a:lnR w="9525">
                      <a:solidFill>
                        <a:srgbClr val="CFDCE4"/>
                      </a:solidFill>
                      <a:prstDash val="solid"/>
                    </a:lnR>
                    <a:lnB w="9525">
                      <a:solidFill>
                        <a:srgbClr val="CFDC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87B2BF-641A-4001-BC5C-75199A0CC3F7}"/>
              </a:ext>
            </a:extLst>
          </p:cNvPr>
          <p:cNvSpPr>
            <a:spLocks xmlns:a="http://schemas.openxmlformats.org/drawingml/2006/main" noGrp="1"/>
          </p:cNvSpPr>
          <p:nvPr/>
        </p:nvSpPr>
        <p:spPr>
          <a:xfrm xmlns:a="http://schemas.openxmlformats.org/drawingml/2006/main">
            <a:off x="619125" y="4762500"/>
            <a:ext cx="10858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5354D"/>
                </a:solidFill>
                <a:latin typeface="Arial"/>
                <a:ea typeface="Arial"/>
                <a:cs typeface="Arial"/>
              </a:defRPr>
            </a:defPPr>
          </a:lstStyle>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yᵢⱼ = 1 / (Rᵢⱼ + jXᵢⱼ)</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Diagonal: add yᵢⱼ     Off-diagonal: subtract yᵢⱼ</a:t>
            </a:r>
          </a:p>
        </p:txBody>
      </p:sp>
    </p:spTree>
    <p:extLst>
      <p:ext uri="{BB962C8B-B14F-4D97-AF65-F5344CB8AC3E}">
        <p14:creationId xmlns:p14="http://schemas.microsoft.com/office/powerpoint/2010/main" val="1114781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AFE3AF-EB95-42ED-B3D9-A11577E0D1B3}"/>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Newton–Raphson formulation</a:t>
            </a:r>
          </a:p>
        </p:txBody>
      </p:sp>
      <p:sp>
        <p:nvSpPr>
          <p:cNvPr id="2" name="">
            <a:extLst xmlns:a="http://schemas.openxmlformats.org/drawingml/2006/main">
              <a:ext uri="{FF2B5EF4-FFF2-40B4-BE49-F238E27FC236}">
                <a16:creationId xmlns:a16="http://schemas.microsoft.com/office/drawing/2014/main" id="{8090B0CE-049A-4EE5-8299-E1D8F50D628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DA59D78-4A52-4C32-80E3-544C3D1BABB4}"/>
              </a:ext>
            </a:extLst>
          </p:cNvPr>
          <p:cNvSpPr>
            <a:spLocks xmlns:a="http://schemas.openxmlformats.org/drawingml/2006/main" noGrp="1"/>
          </p:cNvSpPr>
          <p:nvPr/>
        </p:nvSpPr>
        <p:spPr>
          <a:xfrm xmlns:a="http://schemas.openxmlformats.org/drawingml/2006/main">
            <a:off x="619125" y="1619250"/>
            <a:ext cx="10668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5354D"/>
                </a:solidFill>
                <a:latin typeface="Arial"/>
                <a:ea typeface="Arial"/>
                <a:cs typeface="Arial"/>
              </a:defRPr>
            </a:defPPr>
          </a:lstStyle>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ΔP = Pspecified − Pcalculated</a:t>
            </a:r>
          </a:p>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ΔQ = Qspecified − Qcalculated</a:t>
            </a:r>
          </a:p>
        </p:txBody>
      </p:sp>
      <p:graphicFrame>
        <p:nvGraphicFramePr>
          <p:cNvPr id="4" name="">
            <a:extLst xmlns:a="http://schemas.openxmlformats.org/drawingml/2006/main">
              <a:ext uri="{FF2B5EF4-FFF2-40B4-BE49-F238E27FC236}">
                <a16:creationId xmlns:a16="http://schemas.microsoft.com/office/drawing/2014/main" id="{2DDF30F1-E5FA-4D87-9319-65DBA6F33CF5}"/>
              </a:ext>
            </a:extLst>
          </p:cNvPr>
          <p:cNvGraphicFramePr/>
          <p:nvPr/>
        </p:nvGraphicFramePr>
        <p:xfrm>
          <a:off xmlns:a="http://schemas.openxmlformats.org/drawingml/2006/main" x="619125" y="3190875"/>
          <a:ext xmlns:a="http://schemas.openxmlformats.org/drawingml/2006/main" cx="10953750" cy="1857375"/>
        </p:xfrm>
        <a:graphic xmlns:a="http://schemas.openxmlformats.org/drawingml/2006/main">
          <a:graphicData uri="http://schemas.openxmlformats.org/drawingml/2006/table">
            <a:tbl>
              <a:tblPr/>
              <a:tblGrid>
                <a:gridCol w="3651250"/>
                <a:gridCol w="3651250"/>
                <a:gridCol w="3651250"/>
              </a:tblGrid>
              <a:tr h="619125">
                <a:tc>
                  <a:txBody>
                    <a:bodyPr/>
                    <a:lstStyle/>
                    <a:p>
                      <a:r>
                        <a:rPr sz="1875" b="1">
                          <a:solidFill>
                            <a:srgbClr val="FFFFFF"/>
                          </a:solidFill>
                          <a:latin typeface="Arial"/>
                          <a:ea typeface="Arial"/>
                          <a:cs typeface="Arial"/>
                        </a:rPr>
                        <a:t>Jacobian block</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Angle derivative</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Magnitude derivative</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619125">
                <a:tc>
                  <a:txBody>
                    <a:bodyPr/>
                    <a:lstStyle/>
                    <a:p>
                      <a:r>
                        <a:rPr sz="1875" b="0">
                          <a:solidFill>
                            <a:srgbClr val="15354D"/>
                          </a:solidFill>
                          <a:latin typeface="Arial"/>
                          <a:ea typeface="Arial"/>
                          <a:cs typeface="Arial"/>
                        </a:rPr>
                        <a:t>Active equations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H = ∂P/∂δ</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N = ∂P/∂v</a:t>
                      </a:r>
                    </a:p>
                  </a:txBody>
                  <a:tcPr marL="91440" marR="91440" marT="45720" marB="45720">
                    <a:lnR w="9525">
                      <a:solidFill>
                        <a:srgbClr val="CFDCE4"/>
                      </a:solidFill>
                      <a:prstDash val="solid"/>
                    </a:lnR>
                    <a:lnB w="9525">
                      <a:solidFill>
                        <a:srgbClr val="CFDCE4"/>
                      </a:solidFill>
                      <a:prstDash val="solid"/>
                    </a:lnB>
                    <a:solidFill>
                      <a:srgbClr val="FFFFFF"/>
                    </a:solidFill>
                  </a:tcPr>
                </a:tc>
              </a:tr>
              <a:tr h="619125">
                <a:tc>
                  <a:txBody>
                    <a:bodyPr/>
                    <a:lstStyle/>
                    <a:p>
                      <a:r>
                        <a:rPr sz="1875" b="0">
                          <a:solidFill>
                            <a:srgbClr val="15354D"/>
                          </a:solidFill>
                          <a:latin typeface="Arial"/>
                          <a:ea typeface="Arial"/>
                          <a:cs typeface="Arial"/>
                        </a:rPr>
                        <a:t>Reactive equations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M = ∂Q/∂δ</a:t>
                      </a:r>
                    </a:p>
                  </a:txBody>
                  <a:tcPr marL="91440" marR="91440" marT="45720" marB="45720">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L = ∂Q/∂v</a:t>
                      </a:r>
                    </a:p>
                  </a:txBody>
                  <a:tcPr marL="91440" marR="91440" marT="45720" marB="45720">
                    <a:lnR w="9525">
                      <a:solidFill>
                        <a:srgbClr val="CFDCE4"/>
                      </a:solidFill>
                      <a:prstDash val="solid"/>
                    </a:lnR>
                    <a:lnB w="9525">
                      <a:solidFill>
                        <a:srgbClr val="CFDCE4"/>
                      </a:solidFill>
                      <a:prstDash val="solid"/>
                    </a:lnB>
                    <a:solidFill>
                      <a:srgbClr val="EAF1F6"/>
                    </a:solidFill>
                  </a:tcPr>
                </a:tc>
              </a:tr>
            </a:tbl>
          </a:graphicData>
        </a:graphic>
      </p:graphicFrame>
      <p:sp>
        <p:nvSpPr>
          <p:cNvPr id="5" name="">
            <a:extLst xmlns:a="http://schemas.openxmlformats.org/drawingml/2006/main">
              <a:ext uri="{FF2B5EF4-FFF2-40B4-BE49-F238E27FC236}">
                <a16:creationId xmlns:a16="http://schemas.microsoft.com/office/drawing/2014/main" id="{6160E645-29A0-405F-92A1-61C0366C3CE9}"/>
              </a:ext>
            </a:extLst>
          </p:cNvPr>
          <p:cNvSpPr>
            <a:spLocks xmlns:a="http://schemas.openxmlformats.org/drawingml/2006/main" noGrp="1"/>
          </p:cNvSpPr>
          <p:nvPr/>
        </p:nvSpPr>
        <p:spPr>
          <a:xfrm xmlns:a="http://schemas.openxmlformats.org/drawingml/2006/main">
            <a:off x="619125" y="54292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76C9B"/>
                </a:solidFill>
                <a:latin typeface="Arial"/>
                <a:ea typeface="Arial"/>
                <a:cs typeface="Arial"/>
              </a:defRPr>
            </a:defPPr>
          </a:lstStyle>
          <a:p xmlns:a="http://schemas.openxmlformats.org/drawingml/2006/main">
            <a:pPr>
              <a:defRPr sz="2625" b="1">
                <a:solidFill>
                  <a:srgbClr val="176C9B"/>
                </a:solidFill>
                <a:latin typeface="Arial"/>
                <a:ea typeface="Arial"/>
                <a:cs typeface="Arial"/>
              </a:defRPr>
            </a:pPr>
            <a:r>
              <a:rPr sz="2625" b="1">
                <a:solidFill>
                  <a:srgbClr val="176C9B"/>
                </a:solidFill>
                <a:latin typeface="Arial"/>
                <a:ea typeface="Arial"/>
                <a:cs typeface="Arial"/>
              </a:rPr>
              <a:t>J Δx = [ΔP; ΔQ]     xnew = x + Δx</a:t>
            </a:r>
          </a:p>
        </p:txBody>
      </p:sp>
    </p:spTree>
    <p:extLst>
      <p:ext uri="{BB962C8B-B14F-4D97-AF65-F5344CB8AC3E}">
        <p14:creationId xmlns:p14="http://schemas.microsoft.com/office/powerpoint/2010/main" val="17738184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460F40B3-47BF-4BFB-927F-A25C12E37179}"/>
              </a:ext>
            </a:extLst>
          </p:cNvPr>
          <p:cNvCxnSpPr>
            <a:stCxn xmlns:a="http://schemas.openxmlformats.org/drawingml/2006/main" id="8" idx="1"/>
            <a:endCxn xmlns:a="http://schemas.openxmlformats.org/drawingml/2006/main" id="5" idx="3"/>
          </p:cNvCxnSpPr>
          <p:nvPr/>
        </p:nvCxnSpPr>
        <p:spPr>
          <a:xfrm xmlns:a="http://schemas.openxmlformats.org/drawingml/2006/main" flipH="1">
            <a:off x="4619625" y="3190875"/>
            <a:ext cx="2952750" cy="1023938"/>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D800901A-477D-49B4-9BC5-194C70DEF02C}"/>
              </a:ext>
            </a:extLst>
          </p:cNvPr>
          <p:cNvCxnSpPr>
            <a:stCxn xmlns:a="http://schemas.openxmlformats.org/drawingml/2006/main" id="6" idx="3"/>
            <a:endCxn xmlns:a="http://schemas.openxmlformats.org/drawingml/2006/main" id="8" idx="2"/>
          </p:cNvCxnSpPr>
          <p:nvPr/>
        </p:nvCxnSpPr>
        <p:spPr>
          <a:xfrm xmlns:a="http://schemas.openxmlformats.org/drawingml/2006/main" flipV="1">
            <a:off x="4619625" y="3571875"/>
            <a:ext cx="4953000" cy="1762125"/>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C302E249-29A9-4F26-83A2-A1C1F85C9395}"/>
              </a:ext>
            </a:extLst>
          </p:cNvPr>
          <p:cNvCxnSpPr>
            <a:stCxn xmlns:a="http://schemas.openxmlformats.org/drawingml/2006/main" id="6" idx="3"/>
            <a:endCxn xmlns:a="http://schemas.openxmlformats.org/drawingml/2006/main" id="7" idx="1"/>
          </p:cNvCxnSpPr>
          <p:nvPr/>
        </p:nvCxnSpPr>
        <p:spPr>
          <a:xfrm xmlns:a="http://schemas.openxmlformats.org/drawingml/2006/main">
            <a:off x="4619625" y="5334000"/>
            <a:ext cx="2952750" cy="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37B09E33-08AF-4127-9898-D2765A26541B}"/>
              </a:ext>
            </a:extLst>
          </p:cNvPr>
          <p:cNvCxnSpPr>
            <a:stCxn xmlns:a="http://schemas.openxmlformats.org/drawingml/2006/main" id="5" idx="2"/>
            <a:endCxn xmlns:a="http://schemas.openxmlformats.org/drawingml/2006/main" id="6" idx="0"/>
          </p:cNvCxnSpPr>
          <p:nvPr/>
        </p:nvCxnSpPr>
        <p:spPr>
          <a:xfrm xmlns:a="http://schemas.openxmlformats.org/drawingml/2006/main">
            <a:off x="2619375" y="4524375"/>
            <a:ext cx="0" cy="47625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37A2A94A-6EFC-4439-BD82-7AF5ABC4EDB9}"/>
              </a:ext>
            </a:extLst>
          </p:cNvPr>
          <p:cNvCxnSpPr>
            <a:stCxn xmlns:a="http://schemas.openxmlformats.org/drawingml/2006/main" id="4" idx="2"/>
            <a:endCxn xmlns:a="http://schemas.openxmlformats.org/drawingml/2006/main" id="5" idx="0"/>
          </p:cNvCxnSpPr>
          <p:nvPr/>
        </p:nvCxnSpPr>
        <p:spPr>
          <a:xfrm xmlns:a="http://schemas.openxmlformats.org/drawingml/2006/main">
            <a:off x="2619375" y="3429000"/>
            <a:ext cx="0" cy="47625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552641F-2472-4FF2-A870-08CAFDE55C9A}"/>
              </a:ext>
            </a:extLst>
          </p:cNvPr>
          <p:cNvCxnSpPr>
            <a:stCxn xmlns:a="http://schemas.openxmlformats.org/drawingml/2006/main" id="3" idx="2"/>
            <a:endCxn xmlns:a="http://schemas.openxmlformats.org/drawingml/2006/main" id="4" idx="0"/>
          </p:cNvCxnSpPr>
          <p:nvPr/>
        </p:nvCxnSpPr>
        <p:spPr>
          <a:xfrm xmlns:a="http://schemas.openxmlformats.org/drawingml/2006/main">
            <a:off x="2619375" y="2333625"/>
            <a:ext cx="0" cy="47625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sp>
        <p:nvSpPr>
          <p:cNvPr id="18" name="">
            <a:extLst xmlns:a="http://schemas.openxmlformats.org/drawingml/2006/main">
              <a:ext uri="{FF2B5EF4-FFF2-40B4-BE49-F238E27FC236}">
                <a16:creationId xmlns:a16="http://schemas.microsoft.com/office/drawing/2014/main" id="{EA131353-7E2C-4DE2-AE5D-AE301E81BE5F}"/>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Iteration and stopping criteria</a:t>
            </a:r>
          </a:p>
        </p:txBody>
      </p:sp>
      <p:sp>
        <p:nvSpPr>
          <p:cNvPr id="2" name="">
            <a:extLst xmlns:a="http://schemas.openxmlformats.org/drawingml/2006/main">
              <a:ext uri="{FF2B5EF4-FFF2-40B4-BE49-F238E27FC236}">
                <a16:creationId xmlns:a16="http://schemas.microsoft.com/office/drawing/2014/main" id="{558AF5F5-132B-45FC-9D2F-22CB8EE4629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8F6D64A-3AF7-4288-9A0A-CD3E01BDE2A5}"/>
              </a:ext>
            </a:extLst>
          </p:cNvPr>
          <p:cNvSpPr>
            <a:spLocks xmlns:a="http://schemas.openxmlformats.org/drawingml/2006/main" noGrp="1"/>
          </p:cNvSpPr>
          <p:nvPr/>
        </p:nvSpPr>
        <p:spPr>
          <a:xfrm xmlns:a="http://schemas.openxmlformats.org/drawingml/2006/main">
            <a:off x="619125" y="1714500"/>
            <a:ext cx="4000500" cy="61912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Validate and build Ybus</a:t>
            </a:r>
          </a:p>
        </p:txBody>
      </p:sp>
      <p:sp>
        <p:nvSpPr>
          <p:cNvPr id="4" name="">
            <a:extLst xmlns:a="http://schemas.openxmlformats.org/drawingml/2006/main">
              <a:ext uri="{FF2B5EF4-FFF2-40B4-BE49-F238E27FC236}">
                <a16:creationId xmlns:a16="http://schemas.microsoft.com/office/drawing/2014/main" id="{58CF1716-F119-4CF3-9D76-FD95E7C4E605}"/>
              </a:ext>
            </a:extLst>
          </p:cNvPr>
          <p:cNvSpPr>
            <a:spLocks xmlns:a="http://schemas.openxmlformats.org/drawingml/2006/main" noGrp="1"/>
          </p:cNvSpPr>
          <p:nvPr/>
        </p:nvSpPr>
        <p:spPr>
          <a:xfrm xmlns:a="http://schemas.openxmlformats.org/drawingml/2006/main">
            <a:off x="619125" y="2809875"/>
            <a:ext cx="4000500" cy="61912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Initialize voltage state</a:t>
            </a:r>
          </a:p>
        </p:txBody>
      </p:sp>
      <p:sp>
        <p:nvSpPr>
          <p:cNvPr id="5" name="">
            <a:extLst xmlns:a="http://schemas.openxmlformats.org/drawingml/2006/main">
              <a:ext uri="{FF2B5EF4-FFF2-40B4-BE49-F238E27FC236}">
                <a16:creationId xmlns:a16="http://schemas.microsoft.com/office/drawing/2014/main" id="{4DF20EC2-0D8C-4A42-8271-FB86CC6164FE}"/>
              </a:ext>
            </a:extLst>
          </p:cNvPr>
          <p:cNvSpPr>
            <a:spLocks xmlns:a="http://schemas.openxmlformats.org/drawingml/2006/main" noGrp="1"/>
          </p:cNvSpPr>
          <p:nvPr/>
        </p:nvSpPr>
        <p:spPr>
          <a:xfrm xmlns:a="http://schemas.openxmlformats.org/drawingml/2006/main">
            <a:off x="619125" y="3905250"/>
            <a:ext cx="4000500" cy="61912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Evaluate mismatch</a:t>
            </a:r>
          </a:p>
        </p:txBody>
      </p:sp>
      <p:sp>
        <p:nvSpPr>
          <p:cNvPr id="6" name="">
            <a:extLst xmlns:a="http://schemas.openxmlformats.org/drawingml/2006/main">
              <a:ext uri="{FF2B5EF4-FFF2-40B4-BE49-F238E27FC236}">
                <a16:creationId xmlns:a16="http://schemas.microsoft.com/office/drawing/2014/main" id="{63E2DABC-4B8B-48BB-A3ED-81CC81D4AF4C}"/>
              </a:ext>
            </a:extLst>
          </p:cNvPr>
          <p:cNvSpPr>
            <a:spLocks xmlns:a="http://schemas.openxmlformats.org/drawingml/2006/main" noGrp="1"/>
          </p:cNvSpPr>
          <p:nvPr/>
        </p:nvSpPr>
        <p:spPr>
          <a:xfrm xmlns:a="http://schemas.openxmlformats.org/drawingml/2006/main">
            <a:off x="619125" y="5000625"/>
            <a:ext cx="4000500" cy="666750"/>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Residual below tolerance?</a:t>
            </a:r>
          </a:p>
        </p:txBody>
      </p:sp>
      <p:sp>
        <p:nvSpPr>
          <p:cNvPr id="7" name="">
            <a:extLst xmlns:a="http://schemas.openxmlformats.org/drawingml/2006/main">
              <a:ext uri="{FF2B5EF4-FFF2-40B4-BE49-F238E27FC236}">
                <a16:creationId xmlns:a16="http://schemas.microsoft.com/office/drawing/2014/main" id="{0B79D03C-7B03-46B9-84BF-31244C205771}"/>
              </a:ext>
            </a:extLst>
          </p:cNvPr>
          <p:cNvSpPr>
            <a:spLocks xmlns:a="http://schemas.openxmlformats.org/drawingml/2006/main" noGrp="1"/>
          </p:cNvSpPr>
          <p:nvPr/>
        </p:nvSpPr>
        <p:spPr>
          <a:xfrm xmlns:a="http://schemas.openxmlformats.org/drawingml/2006/main">
            <a:off x="7572375" y="5000625"/>
            <a:ext cx="4000500" cy="666750"/>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Export solution</a:t>
            </a:r>
          </a:p>
        </p:txBody>
      </p:sp>
      <p:sp>
        <p:nvSpPr>
          <p:cNvPr id="8" name="">
            <a:extLst xmlns:a="http://schemas.openxmlformats.org/drawingml/2006/main">
              <a:ext uri="{FF2B5EF4-FFF2-40B4-BE49-F238E27FC236}">
                <a16:creationId xmlns:a16="http://schemas.microsoft.com/office/drawing/2014/main" id="{C2ED2F41-6FD6-48B4-BB7B-C3B97757C369}"/>
              </a:ext>
            </a:extLst>
          </p:cNvPr>
          <p:cNvSpPr>
            <a:spLocks xmlns:a="http://schemas.openxmlformats.org/drawingml/2006/main" noGrp="1"/>
          </p:cNvSpPr>
          <p:nvPr/>
        </p:nvSpPr>
        <p:spPr>
          <a:xfrm xmlns:a="http://schemas.openxmlformats.org/drawingml/2006/main">
            <a:off x="7572375" y="2809875"/>
            <a:ext cx="4000500" cy="762000"/>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Solve J Δx and update</a:t>
            </a:r>
          </a:p>
        </p:txBody>
      </p:sp>
      <p:sp>
        <p:nvSpPr>
          <p:cNvPr id="13" name="">
            <a:extLst xmlns:a="http://schemas.openxmlformats.org/drawingml/2006/main">
              <a:ext uri="{FF2B5EF4-FFF2-40B4-BE49-F238E27FC236}">
                <a16:creationId xmlns:a16="http://schemas.microsoft.com/office/drawing/2014/main" id="{0D86A2C9-BC33-403D-AE01-AF5D674068C1}"/>
              </a:ext>
            </a:extLst>
          </p:cNvPr>
          <p:cNvSpPr>
            <a:spLocks xmlns:a="http://schemas.openxmlformats.org/drawingml/2006/main" noGrp="1"/>
          </p:cNvSpPr>
          <p:nvPr/>
        </p:nvSpPr>
        <p:spPr>
          <a:xfrm xmlns:a="http://schemas.openxmlformats.org/drawingml/2006/main">
            <a:off x="5524500" y="510540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354D"/>
                </a:solidFill>
                <a:latin typeface="Arial"/>
                <a:ea typeface="Arial"/>
                <a:cs typeface="Arial"/>
              </a:defRPr>
            </a:defPPr>
          </a:lstStyle>
          <a:p xmlns:a="http://schemas.openxmlformats.org/drawingml/2006/main">
            <a:pPr>
              <a:defRPr sz="1800" b="0">
                <a:solidFill>
                  <a:srgbClr val="15354D"/>
                </a:solidFill>
                <a:latin typeface="Arial"/>
                <a:ea typeface="Arial"/>
                <a:cs typeface="Arial"/>
              </a:defRPr>
            </a:pPr>
            <a:r>
              <a:rPr sz="1800" b="0">
                <a:solidFill>
                  <a:srgbClr val="15354D"/>
                </a:solidFill>
                <a:latin typeface="Arial"/>
                <a:ea typeface="Arial"/>
                <a:cs typeface="Arial"/>
              </a:rPr>
              <a:t>Yes</a:t>
            </a:r>
          </a:p>
        </p:txBody>
      </p:sp>
      <p:sp>
        <p:nvSpPr>
          <p:cNvPr id="15" name="">
            <a:extLst xmlns:a="http://schemas.openxmlformats.org/drawingml/2006/main">
              <a:ext uri="{FF2B5EF4-FFF2-40B4-BE49-F238E27FC236}">
                <a16:creationId xmlns:a16="http://schemas.microsoft.com/office/drawing/2014/main" id="{91097ECD-A25E-412E-A609-07275EC3DFCA}"/>
              </a:ext>
            </a:extLst>
          </p:cNvPr>
          <p:cNvSpPr>
            <a:spLocks xmlns:a="http://schemas.openxmlformats.org/drawingml/2006/main" noGrp="1"/>
          </p:cNvSpPr>
          <p:nvPr/>
        </p:nvSpPr>
        <p:spPr>
          <a:xfrm xmlns:a="http://schemas.openxmlformats.org/drawingml/2006/main">
            <a:off x="5829300" y="411480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354D"/>
                </a:solidFill>
                <a:latin typeface="Arial"/>
                <a:ea typeface="Arial"/>
                <a:cs typeface="Arial"/>
              </a:defRPr>
            </a:defPPr>
          </a:lstStyle>
          <a:p xmlns:a="http://schemas.openxmlformats.org/drawingml/2006/main">
            <a:pPr>
              <a:defRPr sz="1800" b="0">
                <a:solidFill>
                  <a:srgbClr val="15354D"/>
                </a:solidFill>
                <a:latin typeface="Arial"/>
                <a:ea typeface="Arial"/>
                <a:cs typeface="Arial"/>
              </a:defRPr>
            </a:pPr>
            <a:r>
              <a:rPr sz="1800" b="0">
                <a:solidFill>
                  <a:srgbClr val="15354D"/>
                </a:solidFill>
                <a:latin typeface="Arial"/>
                <a:ea typeface="Arial"/>
                <a:cs typeface="Arial"/>
              </a:rPr>
              <a:t>No</a:t>
            </a:r>
          </a:p>
        </p:txBody>
      </p:sp>
      <p:sp>
        <p:nvSpPr>
          <p:cNvPr id="17" name="">
            <a:extLst xmlns:a="http://schemas.openxmlformats.org/drawingml/2006/main">
              <a:ext uri="{FF2B5EF4-FFF2-40B4-BE49-F238E27FC236}">
                <a16:creationId xmlns:a16="http://schemas.microsoft.com/office/drawing/2014/main" id="{F2781DC2-938C-4821-B38D-6A9696BC6770}"/>
              </a:ext>
            </a:extLst>
          </p:cNvPr>
          <p:cNvSpPr>
            <a:spLocks xmlns:a="http://schemas.openxmlformats.org/drawingml/2006/main" noGrp="1"/>
          </p:cNvSpPr>
          <p:nvPr/>
        </p:nvSpPr>
        <p:spPr>
          <a:xfrm xmlns:a="http://schemas.openxmlformats.org/drawingml/2006/main">
            <a:off x="7572375" y="1714500"/>
            <a:ext cx="3905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54D"/>
                </a:solidFill>
                <a:latin typeface="Arial"/>
                <a:ea typeface="Arial"/>
                <a:cs typeface="Arial"/>
              </a:defRPr>
            </a:defPPr>
          </a:lstStyle>
          <a:p xmlns:a="http://schemas.openxmlformats.org/drawingml/2006/main">
            <a:pPr>
              <a:defRPr sz="2100" b="0">
                <a:solidFill>
                  <a:srgbClr val="15354D"/>
                </a:solidFill>
                <a:latin typeface="Arial"/>
                <a:ea typeface="Arial"/>
                <a:cs typeface="Arial"/>
              </a:defRPr>
            </a:pPr>
            <a:r>
              <a:rPr sz="2100" b="0">
                <a:solidFill>
                  <a:srgbClr val="15354D"/>
                </a:solidFill>
                <a:latin typeface="Arial"/>
                <a:ea typeface="Arial"/>
                <a:cs typeface="Arial"/>
              </a:rPr>
              <a:t>ε = 10⁻¹⁰ pu</a:t>
            </a:r>
          </a:p>
          <a:p xmlns:a="http://schemas.openxmlformats.org/drawingml/2006/main">
            <a:pPr>
              <a:defRPr sz="2100" b="0">
                <a:solidFill>
                  <a:srgbClr val="15354D"/>
                </a:solidFill>
                <a:latin typeface="Arial"/>
                <a:ea typeface="Arial"/>
                <a:cs typeface="Arial"/>
              </a:defRPr>
            </a:pPr>
            <a:r>
              <a:rPr sz="2100" b="0">
                <a:solidFill>
                  <a:srgbClr val="15354D"/>
                </a:solidFill>
                <a:latin typeface="Arial"/>
                <a:ea typeface="Arial"/>
                <a:cs typeface="Arial"/>
              </a:rPr>
              <a:t>30-update limit</a:t>
            </a:r>
          </a:p>
        </p:txBody>
      </p:sp>
    </p:spTree>
    <p:extLst>
      <p:ext uri="{BB962C8B-B14F-4D97-AF65-F5344CB8AC3E}">
        <p14:creationId xmlns:p14="http://schemas.microsoft.com/office/powerpoint/2010/main" val="3203646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A88995C-739D-441D-9F4F-856B94A77E32}"/>
              </a:ext>
            </a:extLst>
          </p:cNvPr>
          <p:cNvCxnSpPr>
            <a:stCxn xmlns:a="http://schemas.openxmlformats.org/drawingml/2006/main" id="5" idx="2"/>
            <a:endCxn xmlns:a="http://schemas.openxmlformats.org/drawingml/2006/main" id="7" idx="0"/>
          </p:cNvCxnSpPr>
          <p:nvPr/>
        </p:nvCxnSpPr>
        <p:spPr>
          <a:xfrm xmlns:a="http://schemas.openxmlformats.org/drawingml/2006/main">
            <a:off x="6096000" y="4381500"/>
            <a:ext cx="3190875" cy="76200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D464C50B-2F73-4290-9672-BCF6F8BA05AE}"/>
              </a:ext>
            </a:extLst>
          </p:cNvPr>
          <p:cNvCxnSpPr>
            <a:stCxn xmlns:a="http://schemas.openxmlformats.org/drawingml/2006/main" id="5" idx="2"/>
            <a:endCxn xmlns:a="http://schemas.openxmlformats.org/drawingml/2006/main" id="6" idx="0"/>
          </p:cNvCxnSpPr>
          <p:nvPr/>
        </p:nvCxnSpPr>
        <p:spPr>
          <a:xfrm xmlns:a="http://schemas.openxmlformats.org/drawingml/2006/main" flipH="1">
            <a:off x="2905125" y="4381500"/>
            <a:ext cx="3190875" cy="76200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84DEDA9F-6F44-4EE5-9ACA-0241CE356283}"/>
              </a:ext>
            </a:extLst>
          </p:cNvPr>
          <p:cNvCxnSpPr>
            <a:stCxn xmlns:a="http://schemas.openxmlformats.org/drawingml/2006/main" id="4" idx="2"/>
            <a:endCxn xmlns:a="http://schemas.openxmlformats.org/drawingml/2006/main" id="5" idx="0"/>
          </p:cNvCxnSpPr>
          <p:nvPr/>
        </p:nvCxnSpPr>
        <p:spPr>
          <a:xfrm xmlns:a="http://schemas.openxmlformats.org/drawingml/2006/main">
            <a:off x="6096000" y="3286125"/>
            <a:ext cx="0" cy="47625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8E760DE4-9762-4477-8995-D912B8CFC18E}"/>
              </a:ext>
            </a:extLst>
          </p:cNvPr>
          <p:cNvCxnSpPr>
            <a:stCxn xmlns:a="http://schemas.openxmlformats.org/drawingml/2006/main" id="3" idx="2"/>
            <a:endCxn xmlns:a="http://schemas.openxmlformats.org/drawingml/2006/main" id="4" idx="0"/>
          </p:cNvCxnSpPr>
          <p:nvPr/>
        </p:nvCxnSpPr>
        <p:spPr>
          <a:xfrm xmlns:a="http://schemas.openxmlformats.org/drawingml/2006/main">
            <a:off x="6096000" y="2190750"/>
            <a:ext cx="0" cy="476250"/>
          </a:xfrm>
          <a:prstGeom xmlns:a="http://schemas.openxmlformats.org/drawingml/2006/main" prst="straightConnector1">
            <a:avLst/>
          </a:prstGeom>
          <a:ln xmlns:a="http://schemas.openxmlformats.org/drawingml/2006/main" w="19050">
            <a:solidFill>
              <a:srgbClr val="4E6372"/>
            </a:solidFill>
            <a:prstDash val="solid"/>
            <a:tailEnd type="arrow" w="med" len="med"/>
          </a:ln>
        </p:spPr>
      </p:cxnSp>
      <p:sp>
        <p:nvSpPr>
          <p:cNvPr id="12" name="">
            <a:extLst xmlns:a="http://schemas.openxmlformats.org/drawingml/2006/main">
              <a:ext uri="{FF2B5EF4-FFF2-40B4-BE49-F238E27FC236}">
                <a16:creationId xmlns:a16="http://schemas.microsoft.com/office/drawing/2014/main" id="{42775F44-9AE6-4256-A472-0EB41B5EE0E6}"/>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One shared Python solver</a:t>
            </a:r>
          </a:p>
        </p:txBody>
      </p:sp>
      <p:sp>
        <p:nvSpPr>
          <p:cNvPr id="2" name="">
            <a:extLst xmlns:a="http://schemas.openxmlformats.org/drawingml/2006/main">
              <a:ext uri="{FF2B5EF4-FFF2-40B4-BE49-F238E27FC236}">
                <a16:creationId xmlns:a16="http://schemas.microsoft.com/office/drawing/2014/main" id="{11E2AAB1-85D1-4512-9154-EC204C56FBD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40F20AC-CA24-462E-9EC2-1C36577DF4C4}"/>
              </a:ext>
            </a:extLst>
          </p:cNvPr>
          <p:cNvSpPr>
            <a:spLocks xmlns:a="http://schemas.openxmlformats.org/drawingml/2006/main" noGrp="1"/>
          </p:cNvSpPr>
          <p:nvPr/>
        </p:nvSpPr>
        <p:spPr>
          <a:xfrm xmlns:a="http://schemas.openxmlformats.org/drawingml/2006/main">
            <a:off x="4095750" y="1571625"/>
            <a:ext cx="4000500" cy="61912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CSV and validation</a:t>
            </a:r>
          </a:p>
        </p:txBody>
      </p:sp>
      <p:sp>
        <p:nvSpPr>
          <p:cNvPr id="4" name="">
            <a:extLst xmlns:a="http://schemas.openxmlformats.org/drawingml/2006/main">
              <a:ext uri="{FF2B5EF4-FFF2-40B4-BE49-F238E27FC236}">
                <a16:creationId xmlns:a16="http://schemas.microsoft.com/office/drawing/2014/main" id="{197D379A-0443-44B2-8CC5-917C45CB0B45}"/>
              </a:ext>
            </a:extLst>
          </p:cNvPr>
          <p:cNvSpPr>
            <a:spLocks xmlns:a="http://schemas.openxmlformats.org/drawingml/2006/main" noGrp="1"/>
          </p:cNvSpPr>
          <p:nvPr/>
        </p:nvSpPr>
        <p:spPr>
          <a:xfrm xmlns:a="http://schemas.openxmlformats.org/drawingml/2006/main">
            <a:off x="4095750" y="2667000"/>
            <a:ext cx="4000500" cy="61912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Ybus and power equations</a:t>
            </a:r>
          </a:p>
        </p:txBody>
      </p:sp>
      <p:sp>
        <p:nvSpPr>
          <p:cNvPr id="5" name="">
            <a:extLst xmlns:a="http://schemas.openxmlformats.org/drawingml/2006/main">
              <a:ext uri="{FF2B5EF4-FFF2-40B4-BE49-F238E27FC236}">
                <a16:creationId xmlns:a16="http://schemas.microsoft.com/office/drawing/2014/main" id="{FCE1F37F-B82B-4FEA-9887-A1B167D197A5}"/>
              </a:ext>
            </a:extLst>
          </p:cNvPr>
          <p:cNvSpPr>
            <a:spLocks xmlns:a="http://schemas.openxmlformats.org/drawingml/2006/main" noGrp="1"/>
          </p:cNvSpPr>
          <p:nvPr/>
        </p:nvSpPr>
        <p:spPr>
          <a:xfrm xmlns:a="http://schemas.openxmlformats.org/drawingml/2006/main">
            <a:off x="4095750" y="3762375"/>
            <a:ext cx="4000500" cy="61912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Jacobian and Newton solver</a:t>
            </a:r>
          </a:p>
        </p:txBody>
      </p:sp>
      <p:sp>
        <p:nvSpPr>
          <p:cNvPr id="6" name="">
            <a:extLst xmlns:a="http://schemas.openxmlformats.org/drawingml/2006/main">
              <a:ext uri="{FF2B5EF4-FFF2-40B4-BE49-F238E27FC236}">
                <a16:creationId xmlns:a16="http://schemas.microsoft.com/office/drawing/2014/main" id="{1703BC90-F53D-49CA-95C7-CECC5B2A4F0B}"/>
              </a:ext>
            </a:extLst>
          </p:cNvPr>
          <p:cNvSpPr>
            <a:spLocks xmlns:a="http://schemas.openxmlformats.org/drawingml/2006/main" noGrp="1"/>
          </p:cNvSpPr>
          <p:nvPr/>
        </p:nvSpPr>
        <p:spPr>
          <a:xfrm xmlns:a="http://schemas.openxmlformats.org/drawingml/2006/main">
            <a:off x="619125" y="5143500"/>
            <a:ext cx="4572000" cy="71437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CLI: CSV and plots</a:t>
            </a:r>
          </a:p>
        </p:txBody>
      </p:sp>
      <p:sp>
        <p:nvSpPr>
          <p:cNvPr id="7" name="">
            <a:extLst xmlns:a="http://schemas.openxmlformats.org/drawingml/2006/main">
              <a:ext uri="{FF2B5EF4-FFF2-40B4-BE49-F238E27FC236}">
                <a16:creationId xmlns:a16="http://schemas.microsoft.com/office/drawing/2014/main" id="{00880140-01A8-4DD3-8586-36404D651BC5}"/>
              </a:ext>
            </a:extLst>
          </p:cNvPr>
          <p:cNvSpPr>
            <a:spLocks xmlns:a="http://schemas.openxmlformats.org/drawingml/2006/main" noGrp="1"/>
          </p:cNvSpPr>
          <p:nvPr/>
        </p:nvSpPr>
        <p:spPr>
          <a:xfrm xmlns:a="http://schemas.openxmlformats.org/drawingml/2006/main">
            <a:off x="7000875" y="5143500"/>
            <a:ext cx="4572000" cy="714375"/>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Streamlit: tables and downloads</a:t>
            </a:r>
          </a:p>
        </p:txBody>
      </p:sp>
    </p:spTree>
    <p:extLst>
      <p:ext uri="{BB962C8B-B14F-4D97-AF65-F5344CB8AC3E}">
        <p14:creationId xmlns:p14="http://schemas.microsoft.com/office/powerpoint/2010/main" val="15307459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C6339D9-63E9-4382-930C-FDCCA7DC4329}"/>
              </a:ext>
            </a:extLst>
          </p:cNvPr>
          <p:cNvCxnSpPr>
            <a:stCxn xmlns:a="http://schemas.openxmlformats.org/drawingml/2006/main" id="4" idx="2"/>
            <a:endCxn xmlns:a="http://schemas.openxmlformats.org/drawingml/2006/main" id="5" idx="3"/>
          </p:cNvCxnSpPr>
          <p:nvPr/>
        </p:nvCxnSpPr>
        <p:spPr>
          <a:xfrm xmlns:a="http://schemas.openxmlformats.org/drawingml/2006/main" flipH="1">
            <a:off x="8048625" y="3048000"/>
            <a:ext cx="1714500" cy="1905000"/>
          </a:xfrm>
          <a:prstGeom xmlns:a="http://schemas.openxmlformats.org/drawingml/2006/main" prst="straightConnector1">
            <a:avLst/>
          </a:prstGeom>
          <a:ln xmlns:a="http://schemas.openxmlformats.org/drawingml/2006/main" w="19050">
            <a:solidFill>
              <a:srgbClr val="4E6372"/>
            </a:solidFill>
            <a:prstDash val="solid"/>
            <a:tailEnd type="none" w="med" len="med"/>
          </a:ln>
        </p:spPr>
      </p:cxnSp>
      <p:cxnSp>
        <p:nvCxnSpPr>
          <p:cNvPr id="7" name="">
            <a:extLst xmlns:a="http://schemas.openxmlformats.org/drawingml/2006/main">
              <a:ext uri="{FF2B5EF4-FFF2-40B4-BE49-F238E27FC236}">
                <a16:creationId xmlns:a16="http://schemas.microsoft.com/office/drawing/2014/main" id="{F085E700-66A4-49A8-96D2-871E3B72E8A7}"/>
              </a:ext>
            </a:extLst>
          </p:cNvPr>
          <p:cNvCxnSpPr>
            <a:stCxn xmlns:a="http://schemas.openxmlformats.org/drawingml/2006/main" id="3" idx="2"/>
            <a:endCxn xmlns:a="http://schemas.openxmlformats.org/drawingml/2006/main" id="5" idx="1"/>
          </p:cNvCxnSpPr>
          <p:nvPr/>
        </p:nvCxnSpPr>
        <p:spPr>
          <a:xfrm xmlns:a="http://schemas.openxmlformats.org/drawingml/2006/main">
            <a:off x="2333625" y="3048000"/>
            <a:ext cx="1809750" cy="1905000"/>
          </a:xfrm>
          <a:prstGeom xmlns:a="http://schemas.openxmlformats.org/drawingml/2006/main" prst="straightConnector1">
            <a:avLst/>
          </a:prstGeom>
          <a:ln xmlns:a="http://schemas.openxmlformats.org/drawingml/2006/main" w="19050">
            <a:solidFill>
              <a:srgbClr val="4E6372"/>
            </a:solidFill>
            <a:prstDash val="solid"/>
            <a:tailEnd type="none" w="med" len="med"/>
          </a:ln>
        </p:spPr>
      </p:cxnSp>
      <p:cxnSp>
        <p:nvCxnSpPr>
          <p:cNvPr id="6" name="">
            <a:extLst xmlns:a="http://schemas.openxmlformats.org/drawingml/2006/main">
              <a:ext uri="{FF2B5EF4-FFF2-40B4-BE49-F238E27FC236}">
                <a16:creationId xmlns:a16="http://schemas.microsoft.com/office/drawing/2014/main" id="{EE3D26D9-A012-40CC-BAFB-DA81EEDDE3BD}"/>
              </a:ext>
            </a:extLst>
          </p:cNvPr>
          <p:cNvCxnSpPr>
            <a:stCxn xmlns:a="http://schemas.openxmlformats.org/drawingml/2006/main" id="3" idx="3"/>
            <a:endCxn xmlns:a="http://schemas.openxmlformats.org/drawingml/2006/main" id="4" idx="1"/>
          </p:cNvCxnSpPr>
          <p:nvPr/>
        </p:nvCxnSpPr>
        <p:spPr>
          <a:xfrm xmlns:a="http://schemas.openxmlformats.org/drawingml/2006/main">
            <a:off x="3857625" y="2524125"/>
            <a:ext cx="4286250" cy="0"/>
          </a:xfrm>
          <a:prstGeom xmlns:a="http://schemas.openxmlformats.org/drawingml/2006/main" prst="straightConnector1">
            <a:avLst/>
          </a:prstGeom>
          <a:ln xmlns:a="http://schemas.openxmlformats.org/drawingml/2006/main" w="19050">
            <a:solidFill>
              <a:srgbClr val="4E6372"/>
            </a:solidFill>
            <a:prstDash val="solid"/>
            <a:tailEnd type="none" w="med" len="med"/>
          </a:ln>
        </p:spPr>
      </p:cxnSp>
      <p:sp>
        <p:nvSpPr>
          <p:cNvPr id="13" name="">
            <a:extLst xmlns:a="http://schemas.openxmlformats.org/drawingml/2006/main">
              <a:ext uri="{FF2B5EF4-FFF2-40B4-BE49-F238E27FC236}">
                <a16:creationId xmlns:a16="http://schemas.microsoft.com/office/drawing/2014/main" id="{CCCE4198-FDB5-49AA-B889-F009913ED4A7}"/>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Three-bus test system</a:t>
            </a:r>
          </a:p>
        </p:txBody>
      </p:sp>
      <p:sp>
        <p:nvSpPr>
          <p:cNvPr id="2" name="">
            <a:extLst xmlns:a="http://schemas.openxmlformats.org/drawingml/2006/main">
              <a:ext uri="{FF2B5EF4-FFF2-40B4-BE49-F238E27FC236}">
                <a16:creationId xmlns:a16="http://schemas.microsoft.com/office/drawing/2014/main" id="{9ABFAC1C-B06F-4F92-9494-659683CCC928}"/>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B637954-4FB0-42FA-9923-E53D2CCC51C9}"/>
              </a:ext>
            </a:extLst>
          </p:cNvPr>
          <p:cNvSpPr>
            <a:spLocks xmlns:a="http://schemas.openxmlformats.org/drawingml/2006/main" noGrp="1"/>
          </p:cNvSpPr>
          <p:nvPr/>
        </p:nvSpPr>
        <p:spPr>
          <a:xfrm xmlns:a="http://schemas.openxmlformats.org/drawingml/2006/main">
            <a:off x="809625" y="2000250"/>
            <a:ext cx="3048000" cy="1047750"/>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1  Slack</a:t>
            </a:r>
          </a:p>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1.05 pu, 0°</a:t>
            </a:r>
          </a:p>
        </p:txBody>
      </p:sp>
      <p:sp>
        <p:nvSpPr>
          <p:cNvPr id="4" name="">
            <a:extLst xmlns:a="http://schemas.openxmlformats.org/drawingml/2006/main">
              <a:ext uri="{FF2B5EF4-FFF2-40B4-BE49-F238E27FC236}">
                <a16:creationId xmlns:a16="http://schemas.microsoft.com/office/drawing/2014/main" id="{439F0AC2-DFCA-4376-A835-A31869EC62C8}"/>
              </a:ext>
            </a:extLst>
          </p:cNvPr>
          <p:cNvSpPr>
            <a:spLocks xmlns:a="http://schemas.openxmlformats.org/drawingml/2006/main" noGrp="1"/>
          </p:cNvSpPr>
          <p:nvPr/>
        </p:nvSpPr>
        <p:spPr>
          <a:xfrm xmlns:a="http://schemas.openxmlformats.org/drawingml/2006/main">
            <a:off x="8143875" y="2000250"/>
            <a:ext cx="3238500" cy="1047750"/>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2  PV</a:t>
            </a:r>
          </a:p>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P = +0.50 pu, v = 1.02</a:t>
            </a:r>
          </a:p>
        </p:txBody>
      </p:sp>
      <p:sp>
        <p:nvSpPr>
          <p:cNvPr id="5" name="">
            <a:extLst xmlns:a="http://schemas.openxmlformats.org/drawingml/2006/main">
              <a:ext uri="{FF2B5EF4-FFF2-40B4-BE49-F238E27FC236}">
                <a16:creationId xmlns:a16="http://schemas.microsoft.com/office/drawing/2014/main" id="{57B438E9-BAFB-4EEE-AC4D-DBF2140C4525}"/>
              </a:ext>
            </a:extLst>
          </p:cNvPr>
          <p:cNvSpPr>
            <a:spLocks xmlns:a="http://schemas.openxmlformats.org/drawingml/2006/main" noGrp="1"/>
          </p:cNvSpPr>
          <p:nvPr/>
        </p:nvSpPr>
        <p:spPr>
          <a:xfrm xmlns:a="http://schemas.openxmlformats.org/drawingml/2006/main">
            <a:off x="4143375" y="4429125"/>
            <a:ext cx="3905250" cy="1047750"/>
          </a:xfrm>
          <a:prstGeom xmlns:a="http://schemas.openxmlformats.org/drawingml/2006/main" prst="rect">
            <a:avLst/>
          </a:prstGeom>
          <a:solidFill xmlns:a="http://schemas.openxmlformats.org/drawingml/2006/main">
            <a:srgbClr val="EAF1F6"/>
          </a:solidFill>
          <a:ln xmlns:a="http://schemas.openxmlformats.org/drawingml/2006/main" w="9525">
            <a:solidFill>
              <a:srgbClr val="91A9B9"/>
            </a:solidFill>
            <a:prstDash val="solid"/>
          </a:ln>
        </p:spPr>
        <p:txBody>
          <a:bodyPr xmlns:a="http://schemas.openxmlformats.org/drawingml/2006/main" anchor="ctr"/>
          <a:lstStyle xmlns:a="http://schemas.openxmlformats.org/drawingml/2006/main">
            <a:defPPr algn="ctr">
              <a:defRPr sz="1875">
                <a:solidFill>
                  <a:srgbClr val="15354D"/>
                </a:solidFill>
                <a:latin typeface="Arial"/>
                <a:ea typeface="Arial"/>
                <a:cs typeface="Arial"/>
              </a:defRPr>
            </a:defPPr>
          </a:lstStyle>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3  PQ</a:t>
            </a:r>
          </a:p>
          <a:p xmlns:a="http://schemas.openxmlformats.org/drawingml/2006/main">
            <a:pPr algn="ctr">
              <a:defRPr sz="1875">
                <a:solidFill>
                  <a:srgbClr val="15354D"/>
                </a:solidFill>
                <a:latin typeface="Arial"/>
                <a:ea typeface="Arial"/>
                <a:cs typeface="Arial"/>
              </a:defRPr>
            </a:pPr>
            <a:r>
              <a:rPr sz="1875">
                <a:solidFill>
                  <a:srgbClr val="15354D"/>
                </a:solidFill>
                <a:latin typeface="Arial"/>
                <a:ea typeface="Arial"/>
                <a:cs typeface="Arial"/>
              </a:rPr>
              <a:t>P = −0.60, Q = −0.25 pu</a:t>
            </a:r>
          </a:p>
        </p:txBody>
      </p:sp>
      <p:sp>
        <p:nvSpPr>
          <p:cNvPr id="9" name="">
            <a:extLst xmlns:a="http://schemas.openxmlformats.org/drawingml/2006/main">
              <a:ext uri="{FF2B5EF4-FFF2-40B4-BE49-F238E27FC236}">
                <a16:creationId xmlns:a16="http://schemas.microsoft.com/office/drawing/2014/main" id="{2ADE2BF2-AB4B-4CEE-B52D-CB54D528C689}"/>
              </a:ext>
            </a:extLst>
          </p:cNvPr>
          <p:cNvSpPr>
            <a:spLocks xmlns:a="http://schemas.openxmlformats.org/drawingml/2006/main" noGrp="1"/>
          </p:cNvSpPr>
          <p:nvPr/>
        </p:nvSpPr>
        <p:spPr>
          <a:xfrm xmlns:a="http://schemas.openxmlformats.org/drawingml/2006/main">
            <a:off x="4762500" y="219075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5354D"/>
                </a:solidFill>
                <a:latin typeface="Arial"/>
                <a:ea typeface="Arial"/>
                <a:cs typeface="Arial"/>
              </a:defRPr>
            </a:defPPr>
          </a:lstStyle>
          <a:p xmlns:a="http://schemas.openxmlformats.org/drawingml/2006/main">
            <a:pPr>
              <a:defRPr sz="1875" b="0">
                <a:solidFill>
                  <a:srgbClr val="15354D"/>
                </a:solidFill>
                <a:latin typeface="Arial"/>
                <a:ea typeface="Arial"/>
                <a:cs typeface="Arial"/>
              </a:defRPr>
            </a:pPr>
            <a:r>
              <a:rPr sz="1875" b="0">
                <a:solidFill>
                  <a:srgbClr val="15354D"/>
                </a:solidFill>
                <a:latin typeface="Arial"/>
                <a:ea typeface="Arial"/>
                <a:cs typeface="Arial"/>
              </a:rPr>
              <a:t>0.02 + j0.06</a:t>
            </a:r>
          </a:p>
        </p:txBody>
      </p:sp>
      <p:sp>
        <p:nvSpPr>
          <p:cNvPr id="10" name="">
            <a:extLst xmlns:a="http://schemas.openxmlformats.org/drawingml/2006/main">
              <a:ext uri="{FF2B5EF4-FFF2-40B4-BE49-F238E27FC236}">
                <a16:creationId xmlns:a16="http://schemas.microsoft.com/office/drawing/2014/main" id="{62796956-A410-4F04-BAE8-5F102A44E28D}"/>
              </a:ext>
            </a:extLst>
          </p:cNvPr>
          <p:cNvSpPr>
            <a:spLocks xmlns:a="http://schemas.openxmlformats.org/drawingml/2006/main" noGrp="1"/>
          </p:cNvSpPr>
          <p:nvPr/>
        </p:nvSpPr>
        <p:spPr>
          <a:xfrm xmlns:a="http://schemas.openxmlformats.org/drawingml/2006/main">
            <a:off x="857250" y="371475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5354D"/>
                </a:solidFill>
                <a:latin typeface="Arial"/>
                <a:ea typeface="Arial"/>
                <a:cs typeface="Arial"/>
              </a:defRPr>
            </a:defPPr>
          </a:lstStyle>
          <a:p xmlns:a="http://schemas.openxmlformats.org/drawingml/2006/main">
            <a:pPr>
              <a:defRPr sz="1875" b="0">
                <a:solidFill>
                  <a:srgbClr val="15354D"/>
                </a:solidFill>
                <a:latin typeface="Arial"/>
                <a:ea typeface="Arial"/>
                <a:cs typeface="Arial"/>
              </a:defRPr>
            </a:pPr>
            <a:r>
              <a:rPr sz="1875" b="0">
                <a:solidFill>
                  <a:srgbClr val="15354D"/>
                </a:solidFill>
                <a:latin typeface="Arial"/>
                <a:ea typeface="Arial"/>
                <a:cs typeface="Arial"/>
              </a:rPr>
              <a:t>0.08 + j0.24</a:t>
            </a:r>
          </a:p>
        </p:txBody>
      </p:sp>
      <p:sp>
        <p:nvSpPr>
          <p:cNvPr id="11" name="">
            <a:extLst xmlns:a="http://schemas.openxmlformats.org/drawingml/2006/main">
              <a:ext uri="{FF2B5EF4-FFF2-40B4-BE49-F238E27FC236}">
                <a16:creationId xmlns:a16="http://schemas.microsoft.com/office/drawing/2014/main" id="{4109D3BC-1A59-4837-94AD-7F503A200F01}"/>
              </a:ext>
            </a:extLst>
          </p:cNvPr>
          <p:cNvSpPr>
            <a:spLocks xmlns:a="http://schemas.openxmlformats.org/drawingml/2006/main" noGrp="1"/>
          </p:cNvSpPr>
          <p:nvPr/>
        </p:nvSpPr>
        <p:spPr>
          <a:xfrm xmlns:a="http://schemas.openxmlformats.org/drawingml/2006/main">
            <a:off x="9382125" y="404812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5354D"/>
                </a:solidFill>
                <a:latin typeface="Arial"/>
                <a:ea typeface="Arial"/>
                <a:cs typeface="Arial"/>
              </a:defRPr>
            </a:defPPr>
          </a:lstStyle>
          <a:p xmlns:a="http://schemas.openxmlformats.org/drawingml/2006/main">
            <a:pPr>
              <a:defRPr sz="1875" b="0">
                <a:solidFill>
                  <a:srgbClr val="15354D"/>
                </a:solidFill>
                <a:latin typeface="Arial"/>
                <a:ea typeface="Arial"/>
                <a:cs typeface="Arial"/>
              </a:defRPr>
            </a:pPr>
            <a:r>
              <a:rPr sz="1875" b="0">
                <a:solidFill>
                  <a:srgbClr val="15354D"/>
                </a:solidFill>
                <a:latin typeface="Arial"/>
                <a:ea typeface="Arial"/>
                <a:cs typeface="Arial"/>
              </a:rPr>
              <a:t>0.06 + j0.18</a:t>
            </a:r>
          </a:p>
        </p:txBody>
      </p:sp>
      <p:sp>
        <p:nvSpPr>
          <p:cNvPr id="12" name="">
            <a:extLst xmlns:a="http://schemas.openxmlformats.org/drawingml/2006/main">
              <a:ext uri="{FF2B5EF4-FFF2-40B4-BE49-F238E27FC236}">
                <a16:creationId xmlns:a16="http://schemas.microsoft.com/office/drawing/2014/main" id="{A4D588D9-FA62-408C-8BBC-70BEC609CA25}"/>
              </a:ext>
            </a:extLst>
          </p:cNvPr>
          <p:cNvSpPr>
            <a:spLocks xmlns:a="http://schemas.openxmlformats.org/drawingml/2006/main" noGrp="1"/>
          </p:cNvSpPr>
          <p:nvPr/>
        </p:nvSpPr>
        <p:spPr>
          <a:xfrm xmlns:a="http://schemas.openxmlformats.org/drawingml/2006/main">
            <a:off x="619125" y="59531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354D"/>
                </a:solidFill>
                <a:latin typeface="Arial"/>
                <a:ea typeface="Arial"/>
                <a:cs typeface="Arial"/>
              </a:defRPr>
            </a:defPPr>
          </a:lstStyle>
          <a:p xmlns:a="http://schemas.openxmlformats.org/drawingml/2006/main">
            <a:pPr>
              <a:defRPr sz="1800" b="0">
                <a:solidFill>
                  <a:srgbClr val="15354D"/>
                </a:solidFill>
                <a:latin typeface="Arial"/>
                <a:ea typeface="Arial"/>
                <a:cs typeface="Arial"/>
              </a:defRPr>
            </a:pPr>
            <a:r>
              <a:rPr sz="1800" b="0">
                <a:solidFill>
                  <a:srgbClr val="15354D"/>
                </a:solidFill>
                <a:latin typeface="Arial"/>
                <a:ea typeface="Arial"/>
                <a:cs typeface="Arial"/>
              </a:rPr>
              <a:t>Series impedances in pu on 100 MVA</a:t>
            </a:r>
          </a:p>
        </p:txBody>
      </p:sp>
    </p:spTree>
    <p:extLst>
      <p:ext uri="{BB962C8B-B14F-4D97-AF65-F5344CB8AC3E}">
        <p14:creationId xmlns:p14="http://schemas.microsoft.com/office/powerpoint/2010/main" val="328973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44A7F0-918A-47F9-A63B-C2970CB4FCF4}"/>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Three-bus solution</a:t>
            </a:r>
          </a:p>
        </p:txBody>
      </p:sp>
      <p:sp>
        <p:nvSpPr>
          <p:cNvPr id="2" name="">
            <a:extLst xmlns:a="http://schemas.openxmlformats.org/drawingml/2006/main">
              <a:ext uri="{FF2B5EF4-FFF2-40B4-BE49-F238E27FC236}">
                <a16:creationId xmlns:a16="http://schemas.microsoft.com/office/drawing/2014/main" id="{8E60F840-1D69-4FC0-AD5C-CFF1577F0B6A}"/>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F8DFD9EA-195E-46E9-8BAF-4260237B9770}"/>
              </a:ext>
            </a:extLst>
          </p:cNvPr>
          <p:cNvGraphicFramePr/>
          <p:nvPr/>
        </p:nvGraphicFramePr>
        <p:xfrm>
          <a:off xmlns:a="http://schemas.openxmlformats.org/drawingml/2006/main" x="619125" y="1762125"/>
          <a:ext xmlns:a="http://schemas.openxmlformats.org/drawingml/2006/main" cx="10953750" cy="2667000"/>
        </p:xfrm>
        <a:graphic xmlns:a="http://schemas.openxmlformats.org/drawingml/2006/main">
          <a:graphicData uri="http://schemas.openxmlformats.org/drawingml/2006/table">
            <a:tbl>
              <a:tblPr/>
              <a:tblGrid>
                <a:gridCol w="2190750"/>
                <a:gridCol w="2190750"/>
                <a:gridCol w="2190750"/>
                <a:gridCol w="2190750"/>
                <a:gridCol w="2190750"/>
              </a:tblGrid>
              <a:tr h="666750">
                <a:tc>
                  <a:txBody>
                    <a:bodyPr/>
                    <a:lstStyle/>
                    <a:p>
                      <a:r>
                        <a:rPr sz="1875" b="1">
                          <a:solidFill>
                            <a:srgbClr val="FFFFFF"/>
                          </a:solidFill>
                          <a:latin typeface="Arial"/>
                          <a:ea typeface="Arial"/>
                          <a:cs typeface="Arial"/>
                        </a:rPr>
                        <a:t>Bus</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v pu</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δ degrees</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P net MW</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Q net Mvar</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666750">
                <a:tc>
                  <a:txBody>
                    <a:bodyPr/>
                    <a:lstStyle/>
                    <a:p>
                      <a:r>
                        <a:rPr sz="1875" b="0">
                          <a:solidFill>
                            <a:srgbClr val="15354D"/>
                          </a:solidFill>
                          <a:latin typeface="Arial"/>
                          <a:ea typeface="Arial"/>
                          <a:cs typeface="Arial"/>
                        </a:rPr>
                        <a:t>1</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1.050000</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0.000000</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12.204693</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77.807132</a:t>
                      </a:r>
                    </a:p>
                  </a:txBody>
                  <a:tcPr marL="91440" marR="91440" marT="45720" marB="45720">
                    <a:lnR w="9525">
                      <a:solidFill>
                        <a:srgbClr val="CFDCE4"/>
                      </a:solidFill>
                      <a:prstDash val="solid"/>
                    </a:lnR>
                    <a:lnB w="9525">
                      <a:solidFill>
                        <a:srgbClr val="CFDCE4"/>
                      </a:solidFill>
                      <a:prstDash val="solid"/>
                    </a:lnB>
                    <a:solidFill>
                      <a:srgbClr val="FFFFFF"/>
                    </a:solidFill>
                  </a:tcPr>
                </a:tc>
              </a:tr>
              <a:tr h="666750">
                <a:tc>
                  <a:txBody>
                    <a:bodyPr/>
                    <a:lstStyle/>
                    <a:p>
                      <a:r>
                        <a:rPr sz="1875" b="0">
                          <a:solidFill>
                            <a:srgbClr val="15354D"/>
                          </a:solidFill>
                          <a:latin typeface="Arial"/>
                          <a:ea typeface="Arial"/>
                          <a:cs typeface="Arial"/>
                        </a:rPr>
                        <a:t>2</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1.020000</a:t>
                      </a:r>
                    </a:p>
                  </a:txBody>
                  <a:tcPr marL="91440" marR="91440" marT="45720" marB="45720">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1.024098</a:t>
                      </a:r>
                    </a:p>
                  </a:txBody>
                  <a:tcPr marL="91440" marR="91440" marT="45720" marB="45720">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50.000000</a:t>
                      </a:r>
                    </a:p>
                  </a:txBody>
                  <a:tcPr marL="91440" marR="91440" marT="45720" marB="45720">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-46.193053</a:t>
                      </a:r>
                    </a:p>
                  </a:txBody>
                  <a:tcPr marL="91440" marR="91440" marT="45720" marB="45720">
                    <a:lnR w="9525">
                      <a:solidFill>
                        <a:srgbClr val="CFDCE4"/>
                      </a:solidFill>
                      <a:prstDash val="solid"/>
                    </a:lnR>
                    <a:lnB w="9525">
                      <a:solidFill>
                        <a:srgbClr val="CFDCE4"/>
                      </a:solidFill>
                      <a:prstDash val="solid"/>
                    </a:lnB>
                    <a:solidFill>
                      <a:srgbClr val="EAF1F6"/>
                    </a:solidFill>
                  </a:tcPr>
                </a:tc>
              </a:tr>
              <a:tr h="666750">
                <a:tc>
                  <a:txBody>
                    <a:bodyPr/>
                    <a:lstStyle/>
                    <a:p>
                      <a:r>
                        <a:rPr sz="1875" b="0">
                          <a:solidFill>
                            <a:srgbClr val="15354D"/>
                          </a:solidFill>
                          <a:latin typeface="Arial"/>
                          <a:ea typeface="Arial"/>
                          <a:cs typeface="Arial"/>
                        </a:rPr>
                        <a:t>3</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0.984385</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-2.418330</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-60.000000</a:t>
                      </a:r>
                    </a:p>
                  </a:txBody>
                  <a:tcPr marL="91440" marR="91440" marT="45720" marB="45720">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-25.000000</a:t>
                      </a:r>
                    </a:p>
                  </a:txBody>
                  <a:tcPr marL="91440" marR="91440" marT="45720" marB="45720">
                    <a:lnR w="9525">
                      <a:solidFill>
                        <a:srgbClr val="CFDCE4"/>
                      </a:solidFill>
                      <a:prstDash val="solid"/>
                    </a:lnR>
                    <a:lnB w="9525">
                      <a:solidFill>
                        <a:srgbClr val="CFDC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D1FBAA2-004C-4BAB-8AC4-A6C19882B9E9}"/>
              </a:ext>
            </a:extLst>
          </p:cNvPr>
          <p:cNvSpPr>
            <a:spLocks xmlns:a="http://schemas.openxmlformats.org/drawingml/2006/main" noGrp="1"/>
          </p:cNvSpPr>
          <p:nvPr/>
        </p:nvSpPr>
        <p:spPr>
          <a:xfrm xmlns:a="http://schemas.openxmlformats.org/drawingml/2006/main">
            <a:off x="619125" y="48577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76C9B"/>
                </a:solidFill>
                <a:latin typeface="Arial"/>
                <a:ea typeface="Arial"/>
                <a:cs typeface="Arial"/>
              </a:defRPr>
            </a:defPPr>
          </a:lstStyle>
          <a:p xmlns:a="http://schemas.openxmlformats.org/drawingml/2006/main">
            <a:pPr>
              <a:defRPr sz="2925" b="1">
                <a:solidFill>
                  <a:srgbClr val="176C9B"/>
                </a:solidFill>
                <a:latin typeface="Arial"/>
                <a:ea typeface="Arial"/>
                <a:cs typeface="Arial"/>
              </a:defRPr>
            </a:pPr>
            <a:r>
              <a:rPr sz="2925" b="1">
                <a:solidFill>
                  <a:srgbClr val="176C9B"/>
                </a:solidFill>
                <a:latin typeface="Arial"/>
                <a:ea typeface="Arial"/>
                <a:cs typeface="Arial"/>
              </a:rPr>
              <a:t>Active loss: 2.204693 MW</a:t>
            </a:r>
          </a:p>
        </p:txBody>
      </p:sp>
      <p:sp>
        <p:nvSpPr>
          <p:cNvPr id="5" name="">
            <a:extLst xmlns:a="http://schemas.openxmlformats.org/drawingml/2006/main">
              <a:ext uri="{FF2B5EF4-FFF2-40B4-BE49-F238E27FC236}">
                <a16:creationId xmlns:a16="http://schemas.microsoft.com/office/drawing/2014/main" id="{007A1939-A2D5-4719-91DB-5769FD600B52}"/>
              </a:ext>
            </a:extLst>
          </p:cNvPr>
          <p:cNvSpPr>
            <a:spLocks xmlns:a="http://schemas.openxmlformats.org/drawingml/2006/main" noGrp="1"/>
          </p:cNvSpPr>
          <p:nvPr/>
        </p:nvSpPr>
        <p:spPr>
          <a:xfrm xmlns:a="http://schemas.openxmlformats.org/drawingml/2006/main">
            <a:off x="619125" y="557212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54D"/>
                </a:solidFill>
                <a:latin typeface="Arial"/>
                <a:ea typeface="Arial"/>
                <a:cs typeface="Arial"/>
              </a:defRPr>
            </a:defPPr>
          </a:lstStyle>
          <a:p xmlns:a="http://schemas.openxmlformats.org/drawingml/2006/main">
            <a:pPr>
              <a:defRPr sz="2250" b="0">
                <a:solidFill>
                  <a:srgbClr val="15354D"/>
                </a:solidFill>
                <a:latin typeface="Arial"/>
                <a:ea typeface="Arial"/>
                <a:cs typeface="Arial"/>
              </a:defRPr>
            </a:pPr>
            <a:r>
              <a:rPr sz="2250" b="0">
                <a:solidFill>
                  <a:srgbClr val="15354D"/>
                </a:solidFill>
                <a:latin typeface="Arial"/>
                <a:ea typeface="Arial"/>
                <a:cs typeface="Arial"/>
              </a:rPr>
              <a:t>12.204693 + 50 = 60 + 2.204693 MW</a:t>
            </a:r>
          </a:p>
        </p:txBody>
      </p:sp>
    </p:spTree>
    <p:extLst>
      <p:ext uri="{BB962C8B-B14F-4D97-AF65-F5344CB8AC3E}">
        <p14:creationId xmlns:p14="http://schemas.microsoft.com/office/powerpoint/2010/main" val="18343946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FAF58B-8BEE-4164-87B1-FC77BF314934}"/>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Convergence and verification</a:t>
            </a:r>
          </a:p>
        </p:txBody>
      </p:sp>
      <p:sp>
        <p:nvSpPr>
          <p:cNvPr id="2" name="">
            <a:extLst xmlns:a="http://schemas.openxmlformats.org/drawingml/2006/main">
              <a:ext uri="{FF2B5EF4-FFF2-40B4-BE49-F238E27FC236}">
                <a16:creationId xmlns:a16="http://schemas.microsoft.com/office/drawing/2014/main" id="{9AC349D4-6094-472D-A509-B7388CB29A6B}"/>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11</a:t>
            </a:r>
          </a:p>
        </p:txBody>
      </p:sp>
      <p:graphicFrame>
        <p:nvGraphicFramePr>
          <p:cNvPr id="3" name="Chart">
            <a:extLst xmlns:a="http://schemas.openxmlformats.org/drawingml/2006/main">
              <a:ext uri="{FF2B5EF4-FFF2-40B4-BE49-F238E27FC236}">
                <a16:creationId xmlns:a16="http://schemas.microsoft.com/office/drawing/2014/main" id="{0FBD0DAD-B68B-41DE-812F-450EC6473067}"/>
              </a:ext>
            </a:extLst>
          </p:cNvPr>
          <p:cNvGraphicFramePr/>
          <p:nvPr/>
        </p:nvGraphicFramePr>
        <p:xfrm>
          <a:off xmlns:a="http://schemas.openxmlformats.org/drawingml/2006/main" x="619125" y="1857375"/>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cfb50b839d5948cb"/>
          </a:graphicData>
        </a:graphic>
      </p:graphicFrame>
      <p:sp>
        <p:nvSpPr>
          <p:cNvPr id="4" name="">
            <a:extLst xmlns:a="http://schemas.openxmlformats.org/drawingml/2006/main">
              <a:ext uri="{FF2B5EF4-FFF2-40B4-BE49-F238E27FC236}">
                <a16:creationId xmlns:a16="http://schemas.microsoft.com/office/drawing/2014/main" id="{73192AD4-B93F-4F67-85E5-0AA130DD05AB}"/>
              </a:ext>
            </a:extLst>
          </p:cNvPr>
          <p:cNvSpPr>
            <a:spLocks xmlns:a="http://schemas.openxmlformats.org/drawingml/2006/main" noGrp="1"/>
          </p:cNvSpPr>
          <p:nvPr/>
        </p:nvSpPr>
        <p:spPr>
          <a:xfrm xmlns:a="http://schemas.openxmlformats.org/drawingml/2006/main">
            <a:off x="8334375" y="1952625"/>
            <a:ext cx="3238500" cy="3476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5354D"/>
                </a:solidFill>
                <a:latin typeface="Arial"/>
                <a:ea typeface="Arial"/>
                <a:cs typeface="Arial"/>
              </a:defRPr>
            </a:defPPr>
          </a:lstStyle>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34 tests passed</a:t>
            </a:r>
          </a:p>
          <a:p xmlns:a="http://schemas.openxmlformats.org/drawingml/2006/main">
            <a:r>
              <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6 scenarios matched</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PYPOWER</a:t>
            </a:r>
          </a:p>
          <a:p xmlns:a="http://schemas.openxmlformats.org/drawingml/2006/main">
            <a:r>
              <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Jacobian, balance</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and I²R checks</a:t>
            </a:r>
          </a:p>
        </p:txBody>
      </p:sp>
      <p:sp>
        <p:nvSpPr>
          <p:cNvPr id="5" name="">
            <a:extLst xmlns:a="http://schemas.openxmlformats.org/drawingml/2006/main">
              <a:ext uri="{FF2B5EF4-FFF2-40B4-BE49-F238E27FC236}">
                <a16:creationId xmlns:a16="http://schemas.microsoft.com/office/drawing/2014/main" id="{B7055B1C-F0E6-42A7-B2E8-8F7B74FB6D8F}"/>
              </a:ext>
            </a:extLst>
          </p:cNvPr>
          <p:cNvSpPr>
            <a:spLocks xmlns:a="http://schemas.openxmlformats.org/drawingml/2006/main" noGrp="1"/>
          </p:cNvSpPr>
          <p:nvPr/>
        </p:nvSpPr>
        <p:spPr>
          <a:xfrm xmlns:a="http://schemas.openxmlformats.org/drawingml/2006/main">
            <a:off x="619125" y="585787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354D"/>
                </a:solidFill>
                <a:latin typeface="Arial"/>
                <a:ea typeface="Arial"/>
                <a:cs typeface="Arial"/>
              </a:defRPr>
            </a:defPPr>
          </a:lstStyle>
          <a:p xmlns:a="http://schemas.openxmlformats.org/drawingml/2006/main">
            <a:pPr>
              <a:defRPr sz="1800" b="0">
                <a:solidFill>
                  <a:srgbClr val="15354D"/>
                </a:solidFill>
                <a:latin typeface="Arial"/>
                <a:ea typeface="Arial"/>
                <a:cs typeface="Arial"/>
              </a:defRPr>
            </a:pPr>
            <a:r>
              <a:rPr sz="1800" b="0">
                <a:solidFill>
                  <a:srgbClr val="15354D"/>
                </a:solidFill>
                <a:latin typeface="Arial"/>
                <a:ea typeface="Arial"/>
                <a:cs typeface="Arial"/>
              </a:rPr>
              <a:t>Initial state is update 0; target log10 residual &lt; −10</a:t>
            </a:r>
          </a:p>
        </p:txBody>
      </p:sp>
    </p:spTree>
    <p:extLst>
      <p:ext uri="{BB962C8B-B14F-4D97-AF65-F5344CB8AC3E}">
        <p14:creationId xmlns:p14="http://schemas.microsoft.com/office/powerpoint/2010/main" val="17008863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9AD160-1F90-45AE-82AA-BC66F9829DD5}"/>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Five-bus load variation</a:t>
            </a:r>
          </a:p>
        </p:txBody>
      </p:sp>
      <p:sp>
        <p:nvSpPr>
          <p:cNvPr id="2" name="">
            <a:extLst xmlns:a="http://schemas.openxmlformats.org/drawingml/2006/main">
              <a:ext uri="{FF2B5EF4-FFF2-40B4-BE49-F238E27FC236}">
                <a16:creationId xmlns:a16="http://schemas.microsoft.com/office/drawing/2014/main" id="{8644B74D-0D35-41DD-B674-5FB78615595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12</a:t>
            </a:r>
          </a:p>
        </p:txBody>
      </p:sp>
      <p:graphicFrame>
        <p:nvGraphicFramePr>
          <p:cNvPr id="3" name="Chart">
            <a:extLst xmlns:a="http://schemas.openxmlformats.org/drawingml/2006/main">
              <a:ext uri="{FF2B5EF4-FFF2-40B4-BE49-F238E27FC236}">
                <a16:creationId xmlns:a16="http://schemas.microsoft.com/office/drawing/2014/main" id="{200406A5-55F4-4111-8AD9-579C681EAFF8}"/>
              </a:ext>
            </a:extLst>
          </p:cNvPr>
          <p:cNvGraphicFramePr/>
          <p:nvPr/>
        </p:nvGraphicFramePr>
        <p:xfrm>
          <a:off xmlns:a="http://schemas.openxmlformats.org/drawingml/2006/main" x="619125" y="1857375"/>
          <a:ext xmlns:a="http://schemas.openxmlformats.org/drawingml/2006/main" cx="6286500" cy="3524250"/>
        </p:xfrm>
        <a:graphic xmlns:a="http://schemas.openxmlformats.org/drawingml/2006/main">
          <a:graphicData uri="http://schemas.openxmlformats.org/drawingml/2006/chart">
            <c:chart xmlns:r="http://schemas.openxmlformats.org/officeDocument/2006/relationships" xmlns:c="http://schemas.openxmlformats.org/drawingml/2006/chart" r:id="R8f727f08246c4f30"/>
          </a:graphicData>
        </a:graphic>
      </p:graphicFrame>
      <p:graphicFrame>
        <p:nvGraphicFramePr>
          <p:cNvPr id="4" name="">
            <a:extLst xmlns:a="http://schemas.openxmlformats.org/drawingml/2006/main">
              <a:ext uri="{FF2B5EF4-FFF2-40B4-BE49-F238E27FC236}">
                <a16:creationId xmlns:a16="http://schemas.microsoft.com/office/drawing/2014/main" id="{E8A2288C-15BA-4E9B-8C20-63D64F3C4542}"/>
              </a:ext>
            </a:extLst>
          </p:cNvPr>
          <p:cNvGraphicFramePr/>
          <p:nvPr/>
        </p:nvGraphicFramePr>
        <p:xfrm>
          <a:off xmlns:a="http://schemas.openxmlformats.org/drawingml/2006/main" x="7381875" y="2190750"/>
          <a:ext xmlns:a="http://schemas.openxmlformats.org/drawingml/2006/main" cx="4191000" cy="2524125"/>
        </p:xfrm>
        <a:graphic xmlns:a="http://schemas.openxmlformats.org/drawingml/2006/main">
          <a:graphicData uri="http://schemas.openxmlformats.org/drawingml/2006/table">
            <a:tbl>
              <a:tblPr/>
              <a:tblGrid>
                <a:gridCol w="2095500"/>
                <a:gridCol w="2095500"/>
              </a:tblGrid>
              <a:tr h="631031">
                <a:tc>
                  <a:txBody>
                    <a:bodyPr/>
                    <a:lstStyle/>
                    <a:p>
                      <a:r>
                        <a:rPr sz="1875" b="1">
                          <a:solidFill>
                            <a:srgbClr val="FFFFFF"/>
                          </a:solidFill>
                          <a:latin typeface="Arial"/>
                          <a:ea typeface="Arial"/>
                          <a:cs typeface="Arial"/>
                        </a:rPr>
                        <a:t>Load</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Min v pu</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631031">
                <a:tc>
                  <a:txBody>
                    <a:bodyPr/>
                    <a:lstStyle/>
                    <a:p>
                      <a:r>
                        <a:rPr sz="1875" b="0">
                          <a:solidFill>
                            <a:srgbClr val="15354D"/>
                          </a:solidFill>
                          <a:latin typeface="Arial"/>
                          <a:ea typeface="Arial"/>
                          <a:cs typeface="Arial"/>
                        </a:rPr>
                        <a:t>80%</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0.980615</a:t>
                      </a:r>
                    </a:p>
                  </a:txBody>
                  <a:tcPr marL="91440" marR="91440" marT="45720" marB="45720">
                    <a:lnR w="9525">
                      <a:solidFill>
                        <a:srgbClr val="CFDCE4"/>
                      </a:solidFill>
                      <a:prstDash val="solid"/>
                    </a:lnR>
                    <a:lnB w="9525">
                      <a:solidFill>
                        <a:srgbClr val="CFDCE4"/>
                      </a:solidFill>
                      <a:prstDash val="solid"/>
                    </a:lnB>
                    <a:solidFill>
                      <a:srgbClr val="FFFFFF"/>
                    </a:solidFill>
                  </a:tcPr>
                </a:tc>
              </a:tr>
              <a:tr h="631031">
                <a:tc>
                  <a:txBody>
                    <a:bodyPr/>
                    <a:lstStyle/>
                    <a:p>
                      <a:r>
                        <a:rPr sz="1875" b="0">
                          <a:solidFill>
                            <a:srgbClr val="15354D"/>
                          </a:solidFill>
                          <a:latin typeface="Arial"/>
                          <a:ea typeface="Arial"/>
                          <a:cs typeface="Arial"/>
                        </a:rPr>
                        <a:t>100%</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0.968039</a:t>
                      </a:r>
                    </a:p>
                  </a:txBody>
                  <a:tcPr marL="91440" marR="91440" marT="45720" marB="45720">
                    <a:lnR w="9525">
                      <a:solidFill>
                        <a:srgbClr val="CFDCE4"/>
                      </a:solidFill>
                      <a:prstDash val="solid"/>
                    </a:lnR>
                    <a:lnB w="9525">
                      <a:solidFill>
                        <a:srgbClr val="CFDCE4"/>
                      </a:solidFill>
                      <a:prstDash val="solid"/>
                    </a:lnB>
                    <a:solidFill>
                      <a:srgbClr val="EAF1F6"/>
                    </a:solidFill>
                  </a:tcPr>
                </a:tc>
              </a:tr>
              <a:tr h="631031">
                <a:tc>
                  <a:txBody>
                    <a:bodyPr/>
                    <a:lstStyle/>
                    <a:p>
                      <a:r>
                        <a:rPr sz="1875" b="0">
                          <a:solidFill>
                            <a:srgbClr val="15354D"/>
                          </a:solidFill>
                          <a:latin typeface="Arial"/>
                          <a:ea typeface="Arial"/>
                          <a:cs typeface="Arial"/>
                        </a:rPr>
                        <a:t>120%</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0.954938</a:t>
                      </a:r>
                    </a:p>
                  </a:txBody>
                  <a:tcPr marL="91440" marR="91440" marT="45720" marB="45720">
                    <a:lnR w="9525">
                      <a:solidFill>
                        <a:srgbClr val="CFDCE4"/>
                      </a:solidFill>
                      <a:prstDash val="solid"/>
                    </a:lnR>
                    <a:lnB w="9525">
                      <a:solidFill>
                        <a:srgbClr val="CFDCE4"/>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50D6E21-6F6A-4C4B-B444-D7D24B43A139}"/>
              </a:ext>
            </a:extLst>
          </p:cNvPr>
          <p:cNvSpPr>
            <a:spLocks xmlns:a="http://schemas.openxmlformats.org/drawingml/2006/main" noGrp="1"/>
          </p:cNvSpPr>
          <p:nvPr/>
        </p:nvSpPr>
        <p:spPr>
          <a:xfrm xmlns:a="http://schemas.openxmlformats.org/drawingml/2006/main">
            <a:off x="619125" y="5857875"/>
            <a:ext cx="1076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354D"/>
                </a:solidFill>
                <a:latin typeface="Arial"/>
                <a:ea typeface="Arial"/>
                <a:cs typeface="Arial"/>
              </a:defRPr>
            </a:defPPr>
          </a:lstStyle>
          <a:p xmlns:a="http://schemas.openxmlformats.org/drawingml/2006/main">
            <a:pPr>
              <a:defRPr sz="1800" b="0">
                <a:solidFill>
                  <a:srgbClr val="15354D"/>
                </a:solidFill>
                <a:latin typeface="Arial"/>
                <a:ea typeface="Arial"/>
                <a:cs typeface="Arial"/>
              </a:defRPr>
            </a:pPr>
            <a:r>
              <a:rPr sz="1800" b="0">
                <a:solidFill>
                  <a:srgbClr val="15354D"/>
                </a:solidFill>
                <a:latin typeface="Arial"/>
                <a:ea typeface="Arial"/>
                <a:cs typeface="Arial"/>
              </a:rPr>
              <a:t>Synthetic system, 100 MVA base, fixed generator schedules</a:t>
            </a:r>
          </a:p>
        </p:txBody>
      </p:sp>
    </p:spTree>
    <p:extLst>
      <p:ext uri="{BB962C8B-B14F-4D97-AF65-F5344CB8AC3E}">
        <p14:creationId xmlns:p14="http://schemas.microsoft.com/office/powerpoint/2010/main" val="7071166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D2C83C-5C95-4654-B19F-20FD59EA5A15}"/>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Limitations and next steps</a:t>
            </a:r>
          </a:p>
        </p:txBody>
      </p:sp>
      <p:sp>
        <p:nvSpPr>
          <p:cNvPr id="2" name="">
            <a:extLst xmlns:a="http://schemas.openxmlformats.org/drawingml/2006/main">
              <a:ext uri="{FF2B5EF4-FFF2-40B4-BE49-F238E27FC236}">
                <a16:creationId xmlns:a16="http://schemas.microsoft.com/office/drawing/2014/main" id="{42E4F496-BCF3-42D0-BEB1-C848664E4B5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20520E46-E444-47FD-9753-F316D133A27B}"/>
              </a:ext>
            </a:extLst>
          </p:cNvPr>
          <p:cNvGraphicFramePr/>
          <p:nvPr/>
        </p:nvGraphicFramePr>
        <p:xfrm>
          <a:off xmlns:a="http://schemas.openxmlformats.org/drawingml/2006/main" x="619125" y="1714500"/>
          <a:ext xmlns:a="http://schemas.openxmlformats.org/drawingml/2006/main" cx="10953750" cy="3524250"/>
        </p:xfrm>
        <a:graphic xmlns:a="http://schemas.openxmlformats.org/drawingml/2006/main">
          <a:graphicData uri="http://schemas.openxmlformats.org/drawingml/2006/table">
            <a:tbl>
              <a:tblPr/>
              <a:tblGrid>
                <a:gridCol w="5476875"/>
                <a:gridCol w="5476875"/>
              </a:tblGrid>
              <a:tr h="704850">
                <a:tc>
                  <a:txBody>
                    <a:bodyPr/>
                    <a:lstStyle/>
                    <a:p>
                      <a:r>
                        <a:rPr sz="1875" b="1">
                          <a:solidFill>
                            <a:srgbClr val="FFFFFF"/>
                          </a:solidFill>
                          <a:latin typeface="Arial"/>
                          <a:ea typeface="Arial"/>
                          <a:cs typeface="Arial"/>
                        </a:rPr>
                        <a:t>Current limitation</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Consequence / next step</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704850">
                <a:tc>
                  <a:txBody>
                    <a:bodyPr/>
                    <a:lstStyle/>
                    <a:p>
                      <a:r>
                        <a:rPr sz="1875" b="0">
                          <a:solidFill>
                            <a:srgbClr val="15354D"/>
                          </a:solidFill>
                          <a:latin typeface="Arial"/>
                          <a:ea typeface="Arial"/>
                          <a:cs typeface="Arial"/>
                        </a:rPr>
                        <a:t>Unlimited generator reactive power</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Add and verify PV-to-PQ switching</a:t>
                      </a:r>
                    </a:p>
                  </a:txBody>
                  <a:tcPr marL="91440" marR="91440" marT="45720" marB="45720">
                    <a:lnR w="9525">
                      <a:solidFill>
                        <a:srgbClr val="CFDCE4"/>
                      </a:solidFill>
                      <a:prstDash val="solid"/>
                    </a:lnR>
                    <a:lnB w="9525">
                      <a:solidFill>
                        <a:srgbClr val="CFDCE4"/>
                      </a:solidFill>
                      <a:prstDash val="solid"/>
                    </a:lnB>
                    <a:solidFill>
                      <a:srgbClr val="FFFFFF"/>
                    </a:solidFill>
                  </a:tcPr>
                </a:tc>
              </a:tr>
              <a:tr h="704850">
                <a:tc>
                  <a:txBody>
                    <a:bodyPr/>
                    <a:lstStyle/>
                    <a:p>
                      <a:r>
                        <a:rPr sz="1875" b="0">
                          <a:solidFill>
                            <a:srgbClr val="15354D"/>
                          </a:solidFill>
                          <a:latin typeface="Arial"/>
                          <a:ea typeface="Arial"/>
                          <a:cs typeface="Arial"/>
                        </a:rPr>
                        <a:t>Series-only branches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Add charging and transformer models</a:t>
                      </a:r>
                    </a:p>
                  </a:txBody>
                  <a:tcPr marL="91440" marR="91440" marT="45720" marB="45720">
                    <a:lnR w="9525">
                      <a:solidFill>
                        <a:srgbClr val="CFDCE4"/>
                      </a:solidFill>
                      <a:prstDash val="solid"/>
                    </a:lnR>
                    <a:lnB w="9525">
                      <a:solidFill>
                        <a:srgbClr val="CFDCE4"/>
                      </a:solidFill>
                      <a:prstDash val="solid"/>
                    </a:lnB>
                    <a:solidFill>
                      <a:srgbClr val="EAF1F6"/>
                    </a:solidFill>
                  </a:tcPr>
                </a:tc>
              </a:tr>
              <a:tr h="704850">
                <a:tc>
                  <a:txBody>
                    <a:bodyPr/>
                    <a:lstStyle/>
                    <a:p>
                      <a:r>
                        <a:rPr sz="1875" b="0">
                          <a:solidFill>
                            <a:srgbClr val="15354D"/>
                          </a:solidFill>
                          <a:latin typeface="Arial"/>
                          <a:ea typeface="Arial"/>
                          <a:cs typeface="Arial"/>
                        </a:rPr>
                        <a:t>Dense, undamped Newton</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Investigate sparse matrices and step control</a:t>
                      </a:r>
                    </a:p>
                  </a:txBody>
                  <a:tcPr marL="91440" marR="91440" marT="45720" marB="45720">
                    <a:lnR w="9525">
                      <a:solidFill>
                        <a:srgbClr val="CFDCE4"/>
                      </a:solidFill>
                      <a:prstDash val="solid"/>
                    </a:lnR>
                    <a:lnB w="9525">
                      <a:solidFill>
                        <a:srgbClr val="CFDCE4"/>
                      </a:solidFill>
                      <a:prstDash val="solid"/>
                    </a:lnB>
                    <a:solidFill>
                      <a:srgbClr val="FFFFFF"/>
                    </a:solidFill>
                  </a:tcPr>
                </a:tc>
              </a:tr>
              <a:tr h="704850">
                <a:tc>
                  <a:txBody>
                    <a:bodyPr/>
                    <a:lstStyle/>
                    <a:p>
                      <a:r>
                        <a:rPr sz="1875" b="0">
                          <a:solidFill>
                            <a:srgbClr val="15354D"/>
                          </a:solidFill>
                          <a:latin typeface="Arial"/>
                          <a:ea typeface="Arial"/>
                          <a:cs typeface="Arial"/>
                        </a:rPr>
                        <a:t>Small educational cases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Validate larger benchmark networks</a:t>
                      </a:r>
                    </a:p>
                  </a:txBody>
                  <a:tcPr marL="91440" marR="91440" marT="45720" marB="45720">
                    <a:lnR w="9525">
                      <a:solidFill>
                        <a:srgbClr val="CFDCE4"/>
                      </a:solidFill>
                      <a:prstDash val="solid"/>
                    </a:lnR>
                    <a:lnB w="9525">
                      <a:solidFill>
                        <a:srgbClr val="CFDCE4"/>
                      </a:solidFill>
                      <a:prstDash val="solid"/>
                    </a:lnB>
                    <a:solidFill>
                      <a:srgbClr val="EAF1F6"/>
                    </a:solidFill>
                  </a:tcPr>
                </a:tc>
              </a:tr>
            </a:tbl>
          </a:graphicData>
        </a:graphic>
      </p:graphicFrame>
      <p:sp>
        <p:nvSpPr>
          <p:cNvPr id="4" name="">
            <a:extLst xmlns:a="http://schemas.openxmlformats.org/drawingml/2006/main">
              <a:ext uri="{FF2B5EF4-FFF2-40B4-BE49-F238E27FC236}">
                <a16:creationId xmlns:a16="http://schemas.microsoft.com/office/drawing/2014/main" id="{9F324826-89A4-45F9-90D9-BF04F751D1D3}"/>
              </a:ext>
            </a:extLst>
          </p:cNvPr>
          <p:cNvSpPr>
            <a:spLocks xmlns:a="http://schemas.openxmlformats.org/drawingml/2006/main" noGrp="1"/>
          </p:cNvSpPr>
          <p:nvPr/>
        </p:nvSpPr>
        <p:spPr>
          <a:xfrm xmlns:a="http://schemas.openxmlformats.org/drawingml/2006/main">
            <a:off x="619125" y="5667375"/>
            <a:ext cx="10620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5354D"/>
                </a:solidFill>
                <a:latin typeface="Arial"/>
                <a:ea typeface="Arial"/>
                <a:cs typeface="Arial"/>
              </a:defRPr>
            </a:defPPr>
          </a:lstStyle>
          <a:p xmlns:a="http://schemas.openxmlformats.org/drawingml/2006/main">
            <a:pPr>
              <a:defRPr sz="1875" b="0">
                <a:solidFill>
                  <a:srgbClr val="15354D"/>
                </a:solidFill>
                <a:latin typeface="Arial"/>
                <a:ea typeface="Arial"/>
                <a:cs typeface="Arial"/>
              </a:defRPr>
            </a:pPr>
            <a:r>
              <a:rPr sz="1875" b="0">
                <a:solidFill>
                  <a:srgbClr val="15354D"/>
                </a:solidFill>
                <a:latin typeface="Arial"/>
                <a:ea typeface="Arial"/>
                <a:cs typeface="Arial"/>
              </a:rPr>
              <a:t>Browser upload/download and local installation need review</a:t>
            </a:r>
          </a:p>
        </p:txBody>
      </p:sp>
    </p:spTree>
    <p:extLst>
      <p:ext uri="{BB962C8B-B14F-4D97-AF65-F5344CB8AC3E}">
        <p14:creationId xmlns:p14="http://schemas.microsoft.com/office/powerpoint/2010/main" val="18895151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08EF88-A521-418A-9285-C4640B2171C6}"/>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Conclusions</a:t>
            </a:r>
          </a:p>
        </p:txBody>
      </p:sp>
      <p:sp>
        <p:nvSpPr>
          <p:cNvPr id="2" name="">
            <a:extLst xmlns:a="http://schemas.openxmlformats.org/drawingml/2006/main">
              <a:ext uri="{FF2B5EF4-FFF2-40B4-BE49-F238E27FC236}">
                <a16:creationId xmlns:a16="http://schemas.microsoft.com/office/drawing/2014/main" id="{7BF0B887-62BF-4723-9813-484E65E4E97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427BFA58-2AD3-4341-BC0B-1A84C6B129AD}"/>
              </a:ext>
            </a:extLst>
          </p:cNvPr>
          <p:cNvGraphicFramePr/>
          <p:nvPr/>
        </p:nvGraphicFramePr>
        <p:xfrm>
          <a:off xmlns:a="http://schemas.openxmlformats.org/drawingml/2006/main" x="619125" y="1714500"/>
          <a:ext xmlns:a="http://schemas.openxmlformats.org/drawingml/2006/main" cx="10953750" cy="3524250"/>
        </p:xfrm>
        <a:graphic xmlns:a="http://schemas.openxmlformats.org/drawingml/2006/main">
          <a:graphicData uri="http://schemas.openxmlformats.org/drawingml/2006/table">
            <a:tbl>
              <a:tblPr/>
              <a:tblGrid>
                <a:gridCol w="5476875"/>
                <a:gridCol w="5476875"/>
              </a:tblGrid>
              <a:tr h="704850">
                <a:tc>
                  <a:txBody>
                    <a:bodyPr/>
                    <a:lstStyle/>
                    <a:p>
                      <a:r>
                        <a:rPr sz="1875" b="1">
                          <a:solidFill>
                            <a:srgbClr val="FFFFFF"/>
                          </a:solidFill>
                          <a:latin typeface="Arial"/>
                          <a:ea typeface="Arial"/>
                          <a:cs typeface="Arial"/>
                        </a:rPr>
                        <a:t>Objective</a:t>
                      </a:r>
                    </a:p>
                  </a:txBody>
                  <a:tcPr marL="91440" marR="91440" marT="45720" marB="45720">
                    <a:lnL w="9525">
                      <a:solidFill>
                        <a:srgbClr val="CFDCE4"/>
                      </a:solidFill>
                      <a:prstDash val="solid"/>
                    </a:lnL>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c>
                  <a:txBody>
                    <a:bodyPr/>
                    <a:lstStyle/>
                    <a:p>
                      <a:r>
                        <a:rPr sz="1875" b="1">
                          <a:solidFill>
                            <a:srgbClr val="FFFFFF"/>
                          </a:solidFill>
                          <a:latin typeface="Arial"/>
                          <a:ea typeface="Arial"/>
                          <a:cs typeface="Arial"/>
                        </a:rPr>
                        <a:t>Evidence</a:t>
                      </a:r>
                    </a:p>
                  </a:txBody>
                  <a:tcPr marL="91440" marR="91440" marT="45720" marB="45720">
                    <a:lnR w="9525">
                      <a:solidFill>
                        <a:srgbClr val="CFDCE4"/>
                      </a:solidFill>
                      <a:prstDash val="solid"/>
                    </a:lnR>
                    <a:lnT w="9525">
                      <a:solidFill>
                        <a:srgbClr val="CFDCE4"/>
                      </a:solidFill>
                      <a:prstDash val="solid"/>
                    </a:lnT>
                    <a:lnB w="9525">
                      <a:solidFill>
                        <a:srgbClr val="CFDCE4"/>
                      </a:solidFill>
                      <a:prstDash val="solid"/>
                    </a:lnB>
                    <a:solidFill>
                      <a:srgbClr val="15354D"/>
                    </a:solidFill>
                  </a:tcPr>
                </a:tc>
              </a:tr>
              <a:tr h="704850">
                <a:tc>
                  <a:txBody>
                    <a:bodyPr/>
                    <a:lstStyle/>
                    <a:p>
                      <a:r>
                        <a:rPr sz="1875" b="0">
                          <a:solidFill>
                            <a:srgbClr val="15354D"/>
                          </a:solidFill>
                          <a:latin typeface="Arial"/>
                          <a:ea typeface="Arial"/>
                          <a:cs typeface="Arial"/>
                        </a:rPr>
                        <a:t>Custom numerical implementation</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Explicit Ybus, Jacobian and Newton updates</a:t>
                      </a:r>
                    </a:p>
                  </a:txBody>
                  <a:tcPr marL="91440" marR="91440" marT="45720" marB="45720">
                    <a:lnR w="9525">
                      <a:solidFill>
                        <a:srgbClr val="CFDCE4"/>
                      </a:solidFill>
                      <a:prstDash val="solid"/>
                    </a:lnR>
                    <a:lnB w="9525">
                      <a:solidFill>
                        <a:srgbClr val="CFDCE4"/>
                      </a:solidFill>
                      <a:prstDash val="solid"/>
                    </a:lnB>
                    <a:solidFill>
                      <a:srgbClr val="FFFFFF"/>
                    </a:solidFill>
                  </a:tcPr>
                </a:tc>
              </a:tr>
              <a:tr h="704850">
                <a:tc>
                  <a:txBody>
                    <a:bodyPr/>
                    <a:lstStyle/>
                    <a:p>
                      <a:r>
                        <a:rPr sz="1875" b="0">
                          <a:solidFill>
                            <a:srgbClr val="15354D"/>
                          </a:solidFill>
                          <a:latin typeface="Arial"/>
                          <a:ea typeface="Arial"/>
                          <a:cs typeface="Arial"/>
                        </a:rPr>
                        <a:t>Reproducible results</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CSV inputs, results JSON and residual histories</a:t>
                      </a:r>
                    </a:p>
                  </a:txBody>
                  <a:tcPr marL="91440" marR="91440" marT="45720" marB="45720">
                    <a:lnR w="9525">
                      <a:solidFill>
                        <a:srgbClr val="CFDCE4"/>
                      </a:solidFill>
                      <a:prstDash val="solid"/>
                    </a:lnR>
                    <a:lnB w="9525">
                      <a:solidFill>
                        <a:srgbClr val="CFDCE4"/>
                      </a:solidFill>
                      <a:prstDash val="solid"/>
                    </a:lnB>
                    <a:solidFill>
                      <a:srgbClr val="EAF1F6"/>
                    </a:solidFill>
                  </a:tcPr>
                </a:tc>
              </a:tr>
              <a:tr h="704850">
                <a:tc>
                  <a:txBody>
                    <a:bodyPr/>
                    <a:lstStyle/>
                    <a:p>
                      <a:r>
                        <a:rPr sz="1875" b="0">
                          <a:solidFill>
                            <a:srgbClr val="15354D"/>
                          </a:solidFill>
                          <a:latin typeface="Arial"/>
                          <a:ea typeface="Arial"/>
                          <a:cs typeface="Arial"/>
                        </a:rPr>
                        <a:t>Verification</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FFFFFF"/>
                    </a:solidFill>
                  </a:tcPr>
                </a:tc>
                <a:tc>
                  <a:txBody>
                    <a:bodyPr/>
                    <a:lstStyle/>
                    <a:p>
                      <a:r>
                        <a:rPr sz="1875" b="0">
                          <a:solidFill>
                            <a:srgbClr val="15354D"/>
                          </a:solidFill>
                          <a:latin typeface="Arial"/>
                          <a:ea typeface="Arial"/>
                          <a:cs typeface="Arial"/>
                        </a:rPr>
                        <a:t>34 tests and six independent comparisons</a:t>
                      </a:r>
                    </a:p>
                  </a:txBody>
                  <a:tcPr marL="91440" marR="91440" marT="45720" marB="45720">
                    <a:lnR w="9525">
                      <a:solidFill>
                        <a:srgbClr val="CFDCE4"/>
                      </a:solidFill>
                      <a:prstDash val="solid"/>
                    </a:lnR>
                    <a:lnB w="9525">
                      <a:solidFill>
                        <a:srgbClr val="CFDCE4"/>
                      </a:solidFill>
                      <a:prstDash val="solid"/>
                    </a:lnB>
                    <a:solidFill>
                      <a:srgbClr val="FFFFFF"/>
                    </a:solidFill>
                  </a:tcPr>
                </a:tc>
              </a:tr>
              <a:tr h="704850">
                <a:tc>
                  <a:txBody>
                    <a:bodyPr/>
                    <a:lstStyle/>
                    <a:p>
                      <a:r>
                        <a:rPr sz="1875" b="0">
                          <a:solidFill>
                            <a:srgbClr val="15354D"/>
                          </a:solidFill>
                          <a:latin typeface="Arial"/>
                          <a:ea typeface="Arial"/>
                          <a:cs typeface="Arial"/>
                        </a:rPr>
                        <a:t>Explainable method</a:t>
                      </a:r>
                    </a:p>
                  </a:txBody>
                  <a:tcPr marL="91440" marR="91440" marT="45720" marB="45720">
                    <a:lnL w="9525">
                      <a:solidFill>
                        <a:srgbClr val="CFDCE4"/>
                      </a:solidFill>
                      <a:prstDash val="solid"/>
                    </a:lnL>
                    <a:lnR w="9525">
                      <a:solidFill>
                        <a:srgbClr val="CFDCE4"/>
                      </a:solidFill>
                      <a:prstDash val="solid"/>
                    </a:lnR>
                    <a:lnB w="9525">
                      <a:solidFill>
                        <a:srgbClr val="CFDCE4"/>
                      </a:solidFill>
                      <a:prstDash val="solid"/>
                    </a:lnB>
                    <a:solidFill>
                      <a:srgbClr val="EAF1F6"/>
                    </a:solidFill>
                  </a:tcPr>
                </a:tc>
                <a:tc>
                  <a:txBody>
                    <a:bodyPr/>
                    <a:lstStyle/>
                    <a:p>
                      <a:r>
                        <a:rPr sz="1875" b="0">
                          <a:solidFill>
                            <a:srgbClr val="15354D"/>
                          </a:solidFill>
                          <a:latin typeface="Arial"/>
                          <a:ea typeface="Arial"/>
                          <a:cs typeface="Arial"/>
                        </a:rPr>
                        <a:t>Worked iteration and module walkthrough</a:t>
                      </a:r>
                    </a:p>
                  </a:txBody>
                  <a:tcPr marL="91440" marR="91440" marT="45720" marB="45720">
                    <a:lnR w="9525">
                      <a:solidFill>
                        <a:srgbClr val="CFDCE4"/>
                      </a:solidFill>
                      <a:prstDash val="solid"/>
                    </a:lnR>
                    <a:lnB w="9525">
                      <a:solidFill>
                        <a:srgbClr val="CFDCE4"/>
                      </a:solidFill>
                      <a:prstDash val="solid"/>
                    </a:lnB>
                    <a:solidFill>
                      <a:srgbClr val="EAF1F6"/>
                    </a:solidFill>
                  </a:tcPr>
                </a:tc>
              </a:tr>
            </a:tbl>
          </a:graphicData>
        </a:graphic>
      </p:graphicFrame>
      <p:sp>
        <p:nvSpPr>
          <p:cNvPr id="4" name="">
            <a:extLst xmlns:a="http://schemas.openxmlformats.org/drawingml/2006/main">
              <a:ext uri="{FF2B5EF4-FFF2-40B4-BE49-F238E27FC236}">
                <a16:creationId xmlns:a16="http://schemas.microsoft.com/office/drawing/2014/main" id="{6B484325-5B3C-4666-B6DD-DEF33290B112}"/>
              </a:ext>
            </a:extLst>
          </p:cNvPr>
          <p:cNvSpPr>
            <a:spLocks xmlns:a="http://schemas.openxmlformats.org/drawingml/2006/main" noGrp="1"/>
          </p:cNvSpPr>
          <p:nvPr/>
        </p:nvSpPr>
        <p:spPr>
          <a:xfrm xmlns:a="http://schemas.openxmlformats.org/drawingml/2006/main">
            <a:off x="619125" y="5619750"/>
            <a:ext cx="10620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76C9B"/>
                </a:solidFill>
                <a:latin typeface="Arial"/>
                <a:ea typeface="Arial"/>
                <a:cs typeface="Arial"/>
              </a:defRPr>
            </a:defPPr>
          </a:lstStyle>
          <a:p xmlns:a="http://schemas.openxmlformats.org/drawingml/2006/main">
            <a:pPr>
              <a:defRPr sz="2325" b="1">
                <a:solidFill>
                  <a:srgbClr val="176C9B"/>
                </a:solidFill>
                <a:latin typeface="Arial"/>
                <a:ea typeface="Arial"/>
                <a:cs typeface="Arial"/>
              </a:defRPr>
            </a:pPr>
            <a:r>
              <a:rPr sz="2325" b="1">
                <a:solidFill>
                  <a:srgbClr val="176C9B"/>
                </a:solidFill>
                <a:latin typeface="Arial"/>
                <a:ea typeface="Arial"/>
                <a:cs typeface="Arial"/>
              </a:rPr>
              <a:t>Verified computations within a clearly stated model</a:t>
            </a:r>
          </a:p>
        </p:txBody>
      </p:sp>
    </p:spTree>
    <p:extLst>
      <p:ext uri="{BB962C8B-B14F-4D97-AF65-F5344CB8AC3E}">
        <p14:creationId xmlns:p14="http://schemas.microsoft.com/office/powerpoint/2010/main" val="4693351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1FD604-153C-45FB-A187-A54FCBE660F4}"/>
              </a:ext>
            </a:extLst>
          </p:cNvPr>
          <p:cNvSpPr>
            <a:spLocks xmlns:a="http://schemas.openxmlformats.org/drawingml/2006/main" noGrp="1"/>
          </p:cNvSpPr>
          <p:nvPr/>
        </p:nvSpPr>
        <p:spPr>
          <a:xfrm xmlns:a="http://schemas.openxmlformats.org/drawingml/2006/main">
            <a:off x="619125" y="428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54D"/>
                </a:solidFill>
                <a:latin typeface="Arial"/>
                <a:ea typeface="Arial"/>
                <a:cs typeface="Arial"/>
              </a:defRPr>
            </a:defPPr>
          </a:lstStyle>
          <a:p xmlns:a="http://schemas.openxmlformats.org/drawingml/2006/main">
            <a:pPr>
              <a:defRPr sz="3225" b="1">
                <a:solidFill>
                  <a:srgbClr val="15354D"/>
                </a:solidFill>
                <a:latin typeface="Arial"/>
                <a:ea typeface="Arial"/>
                <a:cs typeface="Arial"/>
              </a:defRPr>
            </a:pPr>
            <a:r>
              <a:rPr sz="3225" b="1">
                <a:solidFill>
                  <a:srgbClr val="15354D"/>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922E3F64-19CD-4987-B992-F3C11F2E255C}"/>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E6372"/>
                </a:solidFill>
                <a:latin typeface="Arial"/>
                <a:ea typeface="Arial"/>
                <a:cs typeface="Arial"/>
              </a:defRPr>
            </a:defPPr>
          </a:lstStyle>
          <a:p xmlns:a="http://schemas.openxmlformats.org/drawingml/2006/main">
            <a:pPr>
              <a:defRPr sz="1350" b="0">
                <a:solidFill>
                  <a:srgbClr val="4E6372"/>
                </a:solidFill>
                <a:latin typeface="Arial"/>
                <a:ea typeface="Arial"/>
                <a:cs typeface="Arial"/>
              </a:defRPr>
            </a:pPr>
            <a:r>
              <a:rPr sz="1350" b="0">
                <a:solidFill>
                  <a:srgbClr val="4E6372"/>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18515710-C3A4-4AE8-9758-B6B4856C0706}"/>
              </a:ext>
            </a:extLst>
          </p:cNvPr>
          <p:cNvSpPr>
            <a:spLocks xmlns:a="http://schemas.openxmlformats.org/drawingml/2006/main" noGrp="1"/>
          </p:cNvSpPr>
          <p:nvPr/>
        </p:nvSpPr>
        <p:spPr>
          <a:xfrm xmlns:a="http://schemas.openxmlformats.org/drawingml/2006/main">
            <a:off x="619125" y="25717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15354D"/>
                </a:solidFill>
                <a:latin typeface="Arial"/>
                <a:ea typeface="Arial"/>
                <a:cs typeface="Arial"/>
              </a:defRPr>
            </a:defPPr>
          </a:lstStyle>
          <a:p xmlns:a="http://schemas.openxmlformats.org/drawingml/2006/main">
            <a:pPr>
              <a:defRPr sz="4050" b="1">
                <a:solidFill>
                  <a:srgbClr val="15354D"/>
                </a:solidFill>
                <a:latin typeface="Arial"/>
                <a:ea typeface="Arial"/>
                <a:cs typeface="Arial"/>
              </a:defRPr>
            </a:pPr>
            <a:r>
              <a:rPr sz="4050" b="1">
                <a:solidFill>
                  <a:srgbClr val="15354D"/>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F202FBC0-5FB2-405B-B6A1-2106A8948495}"/>
              </a:ext>
            </a:extLst>
          </p:cNvPr>
          <p:cNvSpPr>
            <a:spLocks xmlns:a="http://schemas.openxmlformats.org/drawingml/2006/main" noGrp="1"/>
          </p:cNvSpPr>
          <p:nvPr/>
        </p:nvSpPr>
        <p:spPr>
          <a:xfrm xmlns:a="http://schemas.openxmlformats.org/drawingml/2006/main">
            <a:off x="619125" y="4191000"/>
            <a:ext cx="1047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5354D"/>
                </a:solidFill>
                <a:latin typeface="Arial"/>
                <a:ea typeface="Arial"/>
                <a:cs typeface="Arial"/>
              </a:defRPr>
            </a:defPPr>
          </a:lstStyle>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Model assumptions</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Newton update</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Verification evidence</a:t>
            </a:r>
          </a:p>
        </p:txBody>
      </p:sp>
    </p:spTree>
    <p:extLst>
      <p:ext uri="{BB962C8B-B14F-4D97-AF65-F5344CB8AC3E}">
        <p14:creationId xmlns:p14="http://schemas.microsoft.com/office/powerpoint/2010/main" val="1059316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2026-10-13T11:20:38.3500000Z</dcterms:created>
  <dcterms:modified xsi:type="dcterms:W3CDTF">2026-10-13T11:20:38.3500000Z</dcterms:modified>
</coreProperties>
</file>